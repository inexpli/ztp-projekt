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rostokąt 21">
            <a:extLst>
              <a:ext uri="{FF2B5EF4-FFF2-40B4-BE49-F238E27FC236}">
                <a16:creationId xmlns:a16="http://schemas.microsoft.com/office/drawing/2014/main" id="{A562AF5B-3FE1-4F85-BD6F-B4A11D9FEE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27"/>
          </a:solidFill>
          <a:ln w="0">
            <a:solidFill>
              <a:srgbClr val="111827"/>
            </a:solidFill>
            <a:prstDash val="solid"/>
          </a:ln>
        </p:spPr>
      </p:sp>
      <p:pic>
        <p:nvPicPr>
          <p:cNvPr id="2" name="Obraz 1"/>
          <p:cNvPicPr>
            <a:picLocks noChangeAspect="1"/>
          </p:cNvPicPr>
          <p:nvPr/>
        </p:nvPicPr>
        <p:blipFill>
          <a:blip r:embed="rId3"/>
          <a:srcRect t="1900" b="1900"/>
          <a:stretch>
            <a:fillRect/>
          </a:stretch>
        </p:blipFill>
        <p:spPr>
          <a:xfrm>
            <a:off x="7810500" y="323850"/>
            <a:ext cx="1257300" cy="1809750"/>
          </a:xfrm>
          <a:prstGeom prst="rect">
            <a:avLst/>
          </a:prstGeom>
        </p:spPr>
      </p:pic>
      <p:pic>
        <p:nvPicPr>
          <p:cNvPr id="3" name="Obraz 2"/>
          <p:cNvPicPr>
            <a:picLocks noChangeAspect="1"/>
          </p:cNvPicPr>
          <p:nvPr/>
        </p:nvPicPr>
        <p:blipFill>
          <a:blip r:embed="rId4"/>
          <a:srcRect t="1960" b="1960"/>
          <a:stretch>
            <a:fillRect/>
          </a:stretch>
        </p:blipFill>
        <p:spPr>
          <a:xfrm>
            <a:off x="9296400" y="323850"/>
            <a:ext cx="1257300" cy="1809750"/>
          </a:xfrm>
          <a:prstGeom prst="rect">
            <a:avLst/>
          </a:prstGeom>
        </p:spPr>
      </p:pic>
      <p:pic>
        <p:nvPicPr>
          <p:cNvPr id="4" name="Obraz 3"/>
          <p:cNvPicPr>
            <a:picLocks noChangeAspect="1"/>
          </p:cNvPicPr>
          <p:nvPr/>
        </p:nvPicPr>
        <p:blipFill>
          <a:blip r:embed="rId5"/>
          <a:srcRect t="1360" b="1360"/>
          <a:stretch>
            <a:fillRect/>
          </a:stretch>
        </p:blipFill>
        <p:spPr>
          <a:xfrm>
            <a:off x="7810500" y="2324100"/>
            <a:ext cx="1257300" cy="1809750"/>
          </a:xfrm>
          <a:prstGeom prst="rect">
            <a:avLst/>
          </a:prstGeom>
        </p:spPr>
      </p:pic>
      <p:pic>
        <p:nvPicPr>
          <p:cNvPr id="5" name="Obraz 4"/>
          <p:cNvPicPr>
            <a:picLocks noChangeAspect="1"/>
          </p:cNvPicPr>
          <p:nvPr/>
        </p:nvPicPr>
        <p:blipFill>
          <a:blip r:embed="rId6"/>
          <a:srcRect t="221" b="221"/>
          <a:stretch>
            <a:fillRect/>
          </a:stretch>
        </p:blipFill>
        <p:spPr>
          <a:xfrm>
            <a:off x="9296400" y="2324100"/>
            <a:ext cx="1257300" cy="1809750"/>
          </a:xfrm>
          <a:prstGeom prst="rect">
            <a:avLst/>
          </a:prstGeom>
        </p:spPr>
      </p:pic>
      <p:pic>
        <p:nvPicPr>
          <p:cNvPr id="6" name="Obraz 5"/>
          <p:cNvPicPr>
            <a:picLocks noChangeAspect="1"/>
          </p:cNvPicPr>
          <p:nvPr/>
        </p:nvPicPr>
        <p:blipFill>
          <a:blip r:embed="rId7"/>
          <a:srcRect t="1828" b="1828"/>
          <a:stretch>
            <a:fillRect/>
          </a:stretch>
        </p:blipFill>
        <p:spPr>
          <a:xfrm>
            <a:off x="7810500" y="4324350"/>
            <a:ext cx="1257300" cy="1809750"/>
          </a:xfrm>
          <a:prstGeom prst="rect">
            <a:avLst/>
          </a:prstGeom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8"/>
          <a:srcRect t="2020" b="2020"/>
          <a:stretch>
            <a:fillRect/>
          </a:stretch>
        </p:blipFill>
        <p:spPr>
          <a:xfrm>
            <a:off x="9296400" y="4324350"/>
            <a:ext cx="1257300" cy="1809750"/>
          </a:xfrm>
          <a:prstGeom prst="rect">
            <a:avLst/>
          </a:prstGeom>
        </p:spPr>
      </p:pic>
      <p:sp>
        <p:nvSpPr>
          <p:cNvPr id="8" name="Prostokąt 7">
            <a:extLst>
              <a:ext uri="{FF2B5EF4-FFF2-40B4-BE49-F238E27FC236}">
                <a16:creationId xmlns:a16="http://schemas.microsoft.com/office/drawing/2014/main" id="{0DA2F0D3-8BAE-41FD-BC76-6188CFFD6C4F}"/>
              </a:ext>
            </a:extLst>
          </p:cNvPr>
          <p:cNvSpPr>
            <a:spLocks noGrp="1"/>
          </p:cNvSpPr>
          <p:nvPr/>
        </p:nvSpPr>
        <p:spPr>
          <a:xfrm>
            <a:off x="7429500" y="0"/>
            <a:ext cx="4762500" cy="6858000"/>
          </a:xfrm>
          <a:prstGeom prst="rect">
            <a:avLst/>
          </a:prstGeom>
          <a:solidFill>
            <a:srgbClr val="111827">
              <a:alpha val="80000"/>
            </a:srgbClr>
          </a:solidFill>
          <a:ln w="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82EF7CED-077B-4CAF-B5E2-811B6B92B1A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53340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9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CineRent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12C30172-05D0-4026-ACA1-5EFB3AABE9B4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6477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0">
                <a:solidFill>
                  <a:srgbClr val="E7ECE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E7ECEF"/>
                </a:solidFill>
                <a:latin typeface="Aptos"/>
                <a:ea typeface="Aptos"/>
                <a:cs typeface="Aptos"/>
              </a:rPr>
              <a:t>Architektura mikroserwisowa wypożyczalni VOD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70EA70DE-C374-4113-98C7-9F398C4D62F7}"/>
              </a:ext>
            </a:extLst>
          </p:cNvPr>
          <p:cNvSpPr>
            <a:spLocks noGrp="1"/>
          </p:cNvSpPr>
          <p:nvPr/>
        </p:nvSpPr>
        <p:spPr>
          <a:xfrm>
            <a:off x="723900" y="2609850"/>
            <a:ext cx="61912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React + Flask + PostgreSQL rozszerzone o API Gateway, RabbitMQ, outbox, audit, notification-service i obserwowalność.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F82BF7EC-0CA6-448B-AD72-ABC0A9BF35B0}"/>
              </a:ext>
            </a:extLst>
          </p:cNvPr>
          <p:cNvSpPr>
            <a:spLocks noGrp="1"/>
          </p:cNvSpPr>
          <p:nvPr/>
        </p:nvSpPr>
        <p:spPr>
          <a:xfrm>
            <a:off x="723900" y="4076700"/>
            <a:ext cx="1638300" cy="323850"/>
          </a:xfrm>
          <a:prstGeom prst="rect">
            <a:avLst/>
          </a:prstGeom>
          <a:solidFill>
            <a:srgbClr val="111827"/>
          </a:solidFill>
          <a:ln w="14288">
            <a:solidFill>
              <a:srgbClr val="F2B134"/>
            </a:solidFill>
            <a:prstDash val="solid"/>
          </a:ln>
        </p:spPr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B96CB55-06E9-4176-A4D3-756A26F83CEA}"/>
              </a:ext>
            </a:extLst>
          </p:cNvPr>
          <p:cNvSpPr>
            <a:spLocks noGrp="1"/>
          </p:cNvSpPr>
          <p:nvPr/>
        </p:nvSpPr>
        <p:spPr>
          <a:xfrm>
            <a:off x="838200" y="4152900"/>
            <a:ext cx="14097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2B134"/>
                </a:solidFill>
                <a:latin typeface="Aptos"/>
                <a:ea typeface="Aptos"/>
                <a:cs typeface="Aptos"/>
              </a:rPr>
              <a:t>Docker Compose</a:t>
            </a:r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9BA6E9CB-5995-4124-8B53-47C056FF60A9}"/>
              </a:ext>
            </a:extLst>
          </p:cNvPr>
          <p:cNvSpPr>
            <a:spLocks noGrp="1"/>
          </p:cNvSpPr>
          <p:nvPr/>
        </p:nvSpPr>
        <p:spPr>
          <a:xfrm>
            <a:off x="2571750" y="4076700"/>
            <a:ext cx="1219200" cy="323850"/>
          </a:xfrm>
          <a:prstGeom prst="rect">
            <a:avLst/>
          </a:prstGeom>
          <a:solidFill>
            <a:srgbClr val="111827"/>
          </a:solidFill>
          <a:ln w="14288">
            <a:solidFill>
              <a:srgbClr val="2E9D6F"/>
            </a:solidFill>
            <a:prstDash val="solid"/>
          </a:ln>
        </p:spPr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622063F1-4142-42BE-B996-944D754F6973}"/>
              </a:ext>
            </a:extLst>
          </p:cNvPr>
          <p:cNvSpPr>
            <a:spLocks noGrp="1"/>
          </p:cNvSpPr>
          <p:nvPr/>
        </p:nvSpPr>
        <p:spPr>
          <a:xfrm>
            <a:off x="2686050" y="4152900"/>
            <a:ext cx="9906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2E9D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9D6F"/>
                </a:solidFill>
                <a:latin typeface="Aptos"/>
                <a:ea typeface="Aptos"/>
                <a:cs typeface="Aptos"/>
              </a:rPr>
              <a:t>RabbitMQ</a:t>
            </a: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B827FCF9-9990-4231-BA59-BD0DAF4F2BB4}"/>
              </a:ext>
            </a:extLst>
          </p:cNvPr>
          <p:cNvSpPr>
            <a:spLocks noGrp="1"/>
          </p:cNvSpPr>
          <p:nvPr/>
        </p:nvSpPr>
        <p:spPr>
          <a:xfrm>
            <a:off x="4000500" y="4076700"/>
            <a:ext cx="1485900" cy="323850"/>
          </a:xfrm>
          <a:prstGeom prst="rect">
            <a:avLst/>
          </a:prstGeom>
          <a:solidFill>
            <a:srgbClr val="111827"/>
          </a:solidFill>
          <a:ln w="14288">
            <a:solidFill>
              <a:srgbClr val="E85D4A"/>
            </a:solidFill>
            <a:prstDash val="solid"/>
          </a:ln>
        </p:spPr>
      </p:sp>
      <p:sp>
        <p:nvSpPr>
          <p:cNvPr id="17" name="Prostokąt 16">
            <a:extLst>
              <a:ext uri="{FF2B5EF4-FFF2-40B4-BE49-F238E27FC236}">
                <a16:creationId xmlns:a16="http://schemas.microsoft.com/office/drawing/2014/main" id="{93CBAA7D-1C25-4070-A030-D4BC29B9DE9B}"/>
              </a:ext>
            </a:extLst>
          </p:cNvPr>
          <p:cNvSpPr>
            <a:spLocks noGrp="1"/>
          </p:cNvSpPr>
          <p:nvPr/>
        </p:nvSpPr>
        <p:spPr>
          <a:xfrm>
            <a:off x="4114800" y="4152900"/>
            <a:ext cx="1257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E8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85D4A"/>
                </a:solidFill>
                <a:latin typeface="Aptos"/>
                <a:ea typeface="Aptos"/>
                <a:cs typeface="Aptos"/>
              </a:rPr>
              <a:t>API Gateway</a:t>
            </a:r>
          </a:p>
        </p:txBody>
      </p:sp>
      <p:sp>
        <p:nvSpPr>
          <p:cNvPr id="21" name="Prostokąt 20">
            <a:extLst>
              <a:ext uri="{FF2B5EF4-FFF2-40B4-BE49-F238E27FC236}">
                <a16:creationId xmlns:a16="http://schemas.microsoft.com/office/drawing/2014/main" id="{E469EA4B-D48E-4BD1-981D-EBD10385E219}"/>
              </a:ext>
            </a:extLst>
          </p:cNvPr>
          <p:cNvSpPr>
            <a:spLocks noGrp="1"/>
          </p:cNvSpPr>
          <p:nvPr/>
        </p:nvSpPr>
        <p:spPr>
          <a:xfrm>
            <a:off x="11049000" y="6343650"/>
            <a:ext cx="57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31615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rostokąt 27">
            <a:extLst>
              <a:ext uri="{FF2B5EF4-FFF2-40B4-BE49-F238E27FC236}">
                <a16:creationId xmlns:a16="http://schemas.microsoft.com/office/drawing/2014/main" id="{EABD2CF0-5175-4C10-AB3A-7621479439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2"/>
          </a:solidFill>
          <a:ln w="0">
            <a:solidFill>
              <a:srgbClr val="F8F7F2"/>
            </a:solidFill>
            <a:prstDash val="solid"/>
          </a:ln>
        </p:spPr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092F9846-BB62-465F-B1B2-613BC01E1ED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PUNKT WYJŚCIA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BEC2B93E-E3EC-47A3-AD9F-8E4EFA92DDB4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885825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Działająca aplikacja VOD była bazą, której nie trzeba było przepisywać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C10F8189-2F72-4F98-B6BE-DC7C48E581CF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Warstwowy backend i Reactowy frontend zostały zachowane, a mikroserwisy dopięte obok.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E8628583-FAB6-4D35-BDAD-03DDF5B87ADB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972800" cy="14288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736C7A6C-4743-4D31-8046-637BC5AB2D25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CineRent | architektura mikroserwisowa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62F0700F-0987-45BD-B103-31AEFC9524B3}"/>
              </a:ext>
            </a:extLst>
          </p:cNvPr>
          <p:cNvSpPr>
            <a:spLocks noGrp="1"/>
          </p:cNvSpPr>
          <p:nvPr/>
        </p:nvSpPr>
        <p:spPr>
          <a:xfrm>
            <a:off x="10906125" y="6486525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76D5007A-3261-447C-8983-3D88CC0F0762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22860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FDB"/>
            </a:solidFill>
            <a:prstDash val="solid"/>
          </a:ln>
        </p:spPr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FC4D5694-E7E4-4707-A14F-22FF1A33C915}"/>
              </a:ext>
            </a:extLst>
          </p:cNvPr>
          <p:cNvSpPr>
            <a:spLocks noGrp="1"/>
          </p:cNvSpPr>
          <p:nvPr/>
        </p:nvSpPr>
        <p:spPr>
          <a:xfrm>
            <a:off x="857250" y="2733675"/>
            <a:ext cx="1943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2F6FD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6FDB"/>
                </a:solidFill>
                <a:latin typeface="Aptos"/>
                <a:ea typeface="Aptos"/>
                <a:cs typeface="Aptos"/>
              </a:rPr>
              <a:t>React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0CE5B3CA-0271-4142-AB45-50216D91B4FD}"/>
              </a:ext>
            </a:extLst>
          </p:cNvPr>
          <p:cNvSpPr>
            <a:spLocks noGrp="1"/>
          </p:cNvSpPr>
          <p:nvPr/>
        </p:nvSpPr>
        <p:spPr>
          <a:xfrm>
            <a:off x="857250" y="3095625"/>
            <a:ext cx="194310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interfejs katalogu, logowania, profilu i wypożyczeń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A1A9092A-8F1B-4E39-94EE-7A2F99323198}"/>
              </a:ext>
            </a:extLst>
          </p:cNvPr>
          <p:cNvSpPr>
            <a:spLocks noGrp="1"/>
          </p:cNvSpPr>
          <p:nvPr/>
        </p:nvSpPr>
        <p:spPr>
          <a:xfrm>
            <a:off x="3238500" y="2571750"/>
            <a:ext cx="257175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67A11FA8-CF6A-4E31-A6DA-2FD3CF4783D0}"/>
              </a:ext>
            </a:extLst>
          </p:cNvPr>
          <p:cNvSpPr>
            <a:spLocks noGrp="1"/>
          </p:cNvSpPr>
          <p:nvPr/>
        </p:nvSpPr>
        <p:spPr>
          <a:xfrm>
            <a:off x="3409950" y="2733675"/>
            <a:ext cx="2228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Flask</a:t>
            </a: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860A3F61-258B-4DC5-B1A9-80FDF8C23DEC}"/>
              </a:ext>
            </a:extLst>
          </p:cNvPr>
          <p:cNvSpPr>
            <a:spLocks noGrp="1"/>
          </p:cNvSpPr>
          <p:nvPr/>
        </p:nvSpPr>
        <p:spPr>
          <a:xfrm>
            <a:off x="3409950" y="3095625"/>
            <a:ext cx="22288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API z JWT, route -&gt; service -&gt; repository -&gt; model</a:t>
            </a:r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4B0FBB66-DAAD-4044-ABC9-3902ED1C7905}"/>
              </a:ext>
            </a:extLst>
          </p:cNvPr>
          <p:cNvSpPr>
            <a:spLocks noGrp="1"/>
          </p:cNvSpPr>
          <p:nvPr/>
        </p:nvSpPr>
        <p:spPr>
          <a:xfrm>
            <a:off x="6076950" y="2571750"/>
            <a:ext cx="257175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FCA85A1C-1F94-4433-909F-7AA1DA1A9D43}"/>
              </a:ext>
            </a:extLst>
          </p:cNvPr>
          <p:cNvSpPr>
            <a:spLocks noGrp="1"/>
          </p:cNvSpPr>
          <p:nvPr/>
        </p:nvSpPr>
        <p:spPr>
          <a:xfrm>
            <a:off x="6248400" y="2733675"/>
            <a:ext cx="2228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2E9D6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E9D6F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DF824B88-2813-48FD-9DA4-E1C4FF915174}"/>
              </a:ext>
            </a:extLst>
          </p:cNvPr>
          <p:cNvSpPr>
            <a:spLocks noGrp="1"/>
          </p:cNvSpPr>
          <p:nvPr/>
        </p:nvSpPr>
        <p:spPr>
          <a:xfrm>
            <a:off x="6248400" y="3095625"/>
            <a:ext cx="22288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główna relacyjna baza danych i źródło prawdy</a:t>
            </a:r>
          </a:p>
        </p:txBody>
      </p:sp>
      <p:sp>
        <p:nvSpPr>
          <p:cNvPr id="17" name="Prostokąt 16">
            <a:extLst>
              <a:ext uri="{FF2B5EF4-FFF2-40B4-BE49-F238E27FC236}">
                <a16:creationId xmlns:a16="http://schemas.microsoft.com/office/drawing/2014/main" id="{807D1292-516F-4C22-9EC8-4CC104B98EC1}"/>
              </a:ext>
            </a:extLst>
          </p:cNvPr>
          <p:cNvSpPr>
            <a:spLocks noGrp="1"/>
          </p:cNvSpPr>
          <p:nvPr/>
        </p:nvSpPr>
        <p:spPr>
          <a:xfrm>
            <a:off x="8915400" y="2571750"/>
            <a:ext cx="22860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</p:spPr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99818EC8-C5CC-44F6-89EF-E3A372BBDFB9}"/>
              </a:ext>
            </a:extLst>
          </p:cNvPr>
          <p:cNvSpPr>
            <a:spLocks noGrp="1"/>
          </p:cNvSpPr>
          <p:nvPr/>
        </p:nvSpPr>
        <p:spPr>
          <a:xfrm>
            <a:off x="9086850" y="2733675"/>
            <a:ext cx="1943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E85D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E85D4A"/>
                </a:solidFill>
                <a:latin typeface="Aptos"/>
                <a:ea typeface="Aptos"/>
                <a:cs typeface="Aptos"/>
              </a:rPr>
              <a:t>Docker</a:t>
            </a:r>
          </a:p>
        </p:txBody>
      </p:sp>
      <p:sp>
        <p:nvSpPr>
          <p:cNvPr id="19" name="Prostokąt 18">
            <a:extLst>
              <a:ext uri="{FF2B5EF4-FFF2-40B4-BE49-F238E27FC236}">
                <a16:creationId xmlns:a16="http://schemas.microsoft.com/office/drawing/2014/main" id="{1A6043B4-382B-4985-9945-8473EB5EC2E3}"/>
              </a:ext>
            </a:extLst>
          </p:cNvPr>
          <p:cNvSpPr>
            <a:spLocks noGrp="1"/>
          </p:cNvSpPr>
          <p:nvPr/>
        </p:nvSpPr>
        <p:spPr>
          <a:xfrm>
            <a:off x="9086850" y="3095625"/>
            <a:ext cx="194310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jeden sposób startu całego środowiska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C069316C-349B-404B-AB29-A6C4EB48FA70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4953000" cy="1238250"/>
          </a:xfrm>
          <a:prstGeom prst="rect">
            <a:avLst/>
          </a:prstGeom>
          <a:solidFill>
            <a:srgbClr val="FFFFFF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Prostokąt 20">
            <a:extLst>
              <a:ext uri="{FF2B5EF4-FFF2-40B4-BE49-F238E27FC236}">
                <a16:creationId xmlns:a16="http://schemas.microsoft.com/office/drawing/2014/main" id="{E047478F-7D16-450C-9264-2A82872CC6A1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76200" cy="1238250"/>
          </a:xfrm>
          <a:prstGeom prst="rect">
            <a:avLst/>
          </a:prstGeom>
          <a:solidFill>
            <a:srgbClr val="F2B134"/>
          </a:solidFill>
          <a:ln w="0">
            <a:solidFill>
              <a:srgbClr val="F2B134"/>
            </a:solidFill>
            <a:prstDash val="solid"/>
          </a:ln>
        </p:spPr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70EC2E49-035E-4CC0-A1D9-2A5363013571}"/>
              </a:ext>
            </a:extLst>
          </p:cNvPr>
          <p:cNvSpPr>
            <a:spLocks noGrp="1"/>
          </p:cNvSpPr>
          <p:nvPr/>
        </p:nvSpPr>
        <p:spPr>
          <a:xfrm>
            <a:off x="895350" y="4229100"/>
            <a:ext cx="46291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Zakres produktu</a:t>
            </a:r>
          </a:p>
        </p:txBody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46A75737-9471-4105-A25E-300974847B43}"/>
              </a:ext>
            </a:extLst>
          </p:cNvPr>
          <p:cNvSpPr>
            <a:spLocks noGrp="1"/>
          </p:cNvSpPr>
          <p:nvPr/>
        </p:nvSpPr>
        <p:spPr>
          <a:xfrm>
            <a:off x="895350" y="4495800"/>
            <a:ext cx="462915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logowanie, katalog filmów, wypożyczenie na 14 dni, zwrot, historia, plakaty i dane powiązane</a:t>
            </a:r>
          </a:p>
        </p:txBody>
      </p:sp>
      <p:pic>
        <p:nvPicPr>
          <p:cNvPr id="24" name="Obraz 23"/>
          <p:cNvPicPr>
            <a:picLocks noChangeAspect="1"/>
          </p:cNvPicPr>
          <p:nvPr/>
        </p:nvPicPr>
        <p:blipFill>
          <a:blip r:embed="rId3"/>
          <a:srcRect t="3217" b="3217"/>
          <a:stretch>
            <a:fillRect/>
          </a:stretch>
        </p:blipFill>
        <p:spPr>
          <a:xfrm>
            <a:off x="6172200" y="3962400"/>
            <a:ext cx="1047750" cy="1466850"/>
          </a:xfrm>
          <a:prstGeom prst="rect">
            <a:avLst/>
          </a:prstGeom>
        </p:spPr>
      </p:pic>
      <p:pic>
        <p:nvPicPr>
          <p:cNvPr id="25" name="Obraz 24"/>
          <p:cNvPicPr>
            <a:picLocks noChangeAspect="1"/>
          </p:cNvPicPr>
          <p:nvPr/>
        </p:nvPicPr>
        <p:blipFill>
          <a:blip r:embed="rId4"/>
          <a:srcRect t="3275" b="3275"/>
          <a:stretch>
            <a:fillRect/>
          </a:stretch>
        </p:blipFill>
        <p:spPr>
          <a:xfrm>
            <a:off x="7429500" y="3962400"/>
            <a:ext cx="1047750" cy="1466850"/>
          </a:xfrm>
          <a:prstGeom prst="rect">
            <a:avLst/>
          </a:prstGeom>
        </p:spPr>
      </p:pic>
      <p:pic>
        <p:nvPicPr>
          <p:cNvPr id="26" name="Obraz 25"/>
          <p:cNvPicPr>
            <a:picLocks noChangeAspect="1"/>
          </p:cNvPicPr>
          <p:nvPr/>
        </p:nvPicPr>
        <p:blipFill>
          <a:blip r:embed="rId5"/>
          <a:srcRect t="2691" b="2691"/>
          <a:stretch>
            <a:fillRect/>
          </a:stretch>
        </p:blipFill>
        <p:spPr>
          <a:xfrm>
            <a:off x="8686800" y="3962400"/>
            <a:ext cx="1047750" cy="1466850"/>
          </a:xfrm>
          <a:prstGeom prst="rect">
            <a:avLst/>
          </a:prstGeom>
        </p:spPr>
      </p:pic>
      <p:pic>
        <p:nvPicPr>
          <p:cNvPr id="27" name="Obraz 26"/>
          <p:cNvPicPr>
            <a:picLocks noChangeAspect="1"/>
          </p:cNvPicPr>
          <p:nvPr/>
        </p:nvPicPr>
        <p:blipFill>
          <a:blip r:embed="rId6"/>
          <a:srcRect t="1583" b="1583"/>
          <a:stretch>
            <a:fillRect/>
          </a:stretch>
        </p:blipFill>
        <p:spPr>
          <a:xfrm>
            <a:off x="9944100" y="3962400"/>
            <a:ext cx="1047750" cy="146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6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rostokąt 49">
            <a:extLst>
              <a:ext uri="{FF2B5EF4-FFF2-40B4-BE49-F238E27FC236}">
                <a16:creationId xmlns:a16="http://schemas.microsoft.com/office/drawing/2014/main" id="{6BF6AAA7-272E-48B4-9568-BB9C18EA63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2"/>
          </a:solidFill>
          <a:ln w="0">
            <a:solidFill>
              <a:srgbClr val="F8F7F2"/>
            </a:solidFill>
            <a:prstDash val="solid"/>
          </a:ln>
        </p:spPr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26A5880F-AE10-48F1-A0DF-EA9AD624727D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DOCELOWY UKŁAD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60B20F5F-C641-45C4-8CB7-8BF6EDD9FFB6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885825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Docker Compose spina aplikację, komunikację, dane i obserwowalność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3E13E442-1DC5-42AE-BEC6-D2C5D6527E2E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PostgreSQL zostaje główną bazą; nowe elementy są dołożone jako osobne kontenery.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D7D43258-3521-4A30-B800-9209091E5CD4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972800" cy="14288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907064B1-08D5-4D0F-B668-23213A9D4CAB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CineRent | architektura mikroserwisowa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BB5FE89D-FA2E-4E65-A671-3C2A193C427E}"/>
              </a:ext>
            </a:extLst>
          </p:cNvPr>
          <p:cNvSpPr>
            <a:spLocks noGrp="1"/>
          </p:cNvSpPr>
          <p:nvPr/>
        </p:nvSpPr>
        <p:spPr>
          <a:xfrm>
            <a:off x="10906125" y="6486525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05BAEADE-4F36-46A8-8AA5-9785C967D7C7}"/>
              </a:ext>
            </a:extLst>
          </p:cNvPr>
          <p:cNvSpPr>
            <a:spLocks noGrp="1"/>
          </p:cNvSpPr>
          <p:nvPr/>
        </p:nvSpPr>
        <p:spPr>
          <a:xfrm>
            <a:off x="647700" y="2514600"/>
            <a:ext cx="200025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FDB"/>
            </a:solidFill>
            <a:prstDash val="solid"/>
          </a:ln>
        </p:spPr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9B0D0933-F41D-4611-8A8F-F6278B658A55}"/>
              </a:ext>
            </a:extLst>
          </p:cNvPr>
          <p:cNvSpPr>
            <a:spLocks noGrp="1"/>
          </p:cNvSpPr>
          <p:nvPr/>
        </p:nvSpPr>
        <p:spPr>
          <a:xfrm>
            <a:off x="647700" y="2514600"/>
            <a:ext cx="76200" cy="990600"/>
          </a:xfrm>
          <a:prstGeom prst="rect">
            <a:avLst/>
          </a:prstGeom>
          <a:solidFill>
            <a:srgbClr val="2F6FDB"/>
          </a:solidFill>
          <a:ln w="0">
            <a:solidFill>
              <a:srgbClr val="2F6FDB"/>
            </a:solidFill>
            <a:prstDash val="solid"/>
          </a:ln>
        </p:spPr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DC06C4CF-01BF-446D-AE39-06F6634B4A2B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16764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1DF95A0D-F9C2-4E21-AB0D-5F7B1D0C4F06}"/>
              </a:ext>
            </a:extLst>
          </p:cNvPr>
          <p:cNvSpPr>
            <a:spLocks noGrp="1"/>
          </p:cNvSpPr>
          <p:nvPr/>
        </p:nvSpPr>
        <p:spPr>
          <a:xfrm>
            <a:off x="857250" y="2914650"/>
            <a:ext cx="16764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React build serwowany przez Nginx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port hosta: 8080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37E3DDE5-7584-4463-BDC6-0D3DD737C7B9}"/>
              </a:ext>
            </a:extLst>
          </p:cNvPr>
          <p:cNvSpPr>
            <a:spLocks noGrp="1"/>
          </p:cNvSpPr>
          <p:nvPr/>
        </p:nvSpPr>
        <p:spPr>
          <a:xfrm>
            <a:off x="3200400" y="2514600"/>
            <a:ext cx="219075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</p:spPr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18305E57-B208-498E-81CA-C5890E23B015}"/>
              </a:ext>
            </a:extLst>
          </p:cNvPr>
          <p:cNvSpPr>
            <a:spLocks noGrp="1"/>
          </p:cNvSpPr>
          <p:nvPr/>
        </p:nvSpPr>
        <p:spPr>
          <a:xfrm>
            <a:off x="3200400" y="2514600"/>
            <a:ext cx="76200" cy="990600"/>
          </a:xfrm>
          <a:prstGeom prst="rect">
            <a:avLst/>
          </a:prstGeom>
          <a:solidFill>
            <a:srgbClr val="E85D4A"/>
          </a:solidFill>
          <a:ln w="0">
            <a:solidFill>
              <a:srgbClr val="E85D4A"/>
            </a:solidFill>
            <a:prstDash val="solid"/>
          </a:ln>
        </p:spPr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B6670173-F5B7-4460-9F14-3770FB4F6A55}"/>
              </a:ext>
            </a:extLst>
          </p:cNvPr>
          <p:cNvSpPr>
            <a:spLocks noGrp="1"/>
          </p:cNvSpPr>
          <p:nvPr/>
        </p:nvSpPr>
        <p:spPr>
          <a:xfrm>
            <a:off x="3409950" y="2647950"/>
            <a:ext cx="18669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API Gateway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A96C9C98-FD7F-4220-B841-5BA3BF323776}"/>
              </a:ext>
            </a:extLst>
          </p:cNvPr>
          <p:cNvSpPr>
            <a:spLocks noGrp="1"/>
          </p:cNvSpPr>
          <p:nvPr/>
        </p:nvSpPr>
        <p:spPr>
          <a:xfrm>
            <a:off x="3409950" y="2914650"/>
            <a:ext cx="18669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Nginx: routing, rate limiting,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nagłówki, /health</a:t>
            </a: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37F72964-A953-4956-8CA3-D273F432AEE1}"/>
              </a:ext>
            </a:extLst>
          </p:cNvPr>
          <p:cNvSpPr>
            <a:spLocks noGrp="1"/>
          </p:cNvSpPr>
          <p:nvPr/>
        </p:nvSpPr>
        <p:spPr>
          <a:xfrm>
            <a:off x="5943600" y="2514600"/>
            <a:ext cx="219075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17" name="Prostokąt 16">
            <a:extLst>
              <a:ext uri="{FF2B5EF4-FFF2-40B4-BE49-F238E27FC236}">
                <a16:creationId xmlns:a16="http://schemas.microsoft.com/office/drawing/2014/main" id="{6E22FD35-20A4-48EF-910A-2E8AE99FB77C}"/>
              </a:ext>
            </a:extLst>
          </p:cNvPr>
          <p:cNvSpPr>
            <a:spLocks noGrp="1"/>
          </p:cNvSpPr>
          <p:nvPr/>
        </p:nvSpPr>
        <p:spPr>
          <a:xfrm>
            <a:off x="5943600" y="2514600"/>
            <a:ext cx="76200" cy="990600"/>
          </a:xfrm>
          <a:prstGeom prst="rect">
            <a:avLst/>
          </a:prstGeom>
          <a:solidFill>
            <a:srgbClr val="0E7C7B"/>
          </a:solidFill>
          <a:ln w="0">
            <a:solidFill>
              <a:srgbClr val="0E7C7B"/>
            </a:solidFill>
            <a:prstDash val="solid"/>
          </a:ln>
        </p:spPr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7E72278F-A830-40A4-AC8C-231B5C6E8CC2}"/>
              </a:ext>
            </a:extLst>
          </p:cNvPr>
          <p:cNvSpPr>
            <a:spLocks noGrp="1"/>
          </p:cNvSpPr>
          <p:nvPr/>
        </p:nvSpPr>
        <p:spPr>
          <a:xfrm>
            <a:off x="6153150" y="2647950"/>
            <a:ext cx="18669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9" name="Prostokąt 18">
            <a:extLst>
              <a:ext uri="{FF2B5EF4-FFF2-40B4-BE49-F238E27FC236}">
                <a16:creationId xmlns:a16="http://schemas.microsoft.com/office/drawing/2014/main" id="{3A42A42F-7069-4883-A648-B2B44BA715DF}"/>
              </a:ext>
            </a:extLst>
          </p:cNvPr>
          <p:cNvSpPr>
            <a:spLocks noGrp="1"/>
          </p:cNvSpPr>
          <p:nvPr/>
        </p:nvSpPr>
        <p:spPr>
          <a:xfrm>
            <a:off x="6153150" y="2914650"/>
            <a:ext cx="18669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Flask + Gunicorn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API i logika domenowa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75C0EA2A-D760-46FC-85CE-25BD5211478B}"/>
              </a:ext>
            </a:extLst>
          </p:cNvPr>
          <p:cNvSpPr>
            <a:spLocks noGrp="1"/>
          </p:cNvSpPr>
          <p:nvPr/>
        </p:nvSpPr>
        <p:spPr>
          <a:xfrm>
            <a:off x="8686800" y="2514600"/>
            <a:ext cx="228600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21" name="Prostokąt 20">
            <a:extLst>
              <a:ext uri="{FF2B5EF4-FFF2-40B4-BE49-F238E27FC236}">
                <a16:creationId xmlns:a16="http://schemas.microsoft.com/office/drawing/2014/main" id="{AA6B2686-5586-4ABE-93EA-EA2779E09A76}"/>
              </a:ext>
            </a:extLst>
          </p:cNvPr>
          <p:cNvSpPr>
            <a:spLocks noGrp="1"/>
          </p:cNvSpPr>
          <p:nvPr/>
        </p:nvSpPr>
        <p:spPr>
          <a:xfrm>
            <a:off x="8686800" y="2514600"/>
            <a:ext cx="76200" cy="99060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D0925C72-EBF0-40C4-902B-D193FE10040F}"/>
              </a:ext>
            </a:extLst>
          </p:cNvPr>
          <p:cNvSpPr>
            <a:spLocks noGrp="1"/>
          </p:cNvSpPr>
          <p:nvPr/>
        </p:nvSpPr>
        <p:spPr>
          <a:xfrm>
            <a:off x="8896350" y="2647950"/>
            <a:ext cx="19621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047991BA-8EEB-4212-849F-9EB4C602B27F}"/>
              </a:ext>
            </a:extLst>
          </p:cNvPr>
          <p:cNvSpPr>
            <a:spLocks noGrp="1"/>
          </p:cNvSpPr>
          <p:nvPr/>
        </p:nvSpPr>
        <p:spPr>
          <a:xfrm>
            <a:off x="8896350" y="2914650"/>
            <a:ext cx="1962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users, movies, rentals,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outbox_events, audit_events</a:t>
            </a:r>
          </a:p>
        </p:txBody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BE089CF9-9627-4A2D-9545-4E46200389CF}"/>
              </a:ext>
            </a:extLst>
          </p:cNvPr>
          <p:cNvSpPr>
            <a:spLocks noGrp="1"/>
          </p:cNvSpPr>
          <p:nvPr/>
        </p:nvSpPr>
        <p:spPr>
          <a:xfrm>
            <a:off x="2647950" y="3000375"/>
            <a:ext cx="552450" cy="19050"/>
          </a:xfrm>
          <a:prstGeom prst="rect">
            <a:avLst/>
          </a:prstGeom>
          <a:solidFill>
            <a:srgbClr val="E85D4A"/>
          </a:solidFill>
          <a:ln w="0">
            <a:solidFill>
              <a:srgbClr val="E85D4A"/>
            </a:solidFill>
            <a:prstDash val="solid"/>
          </a:ln>
        </p:spPr>
      </p:sp>
      <p:sp>
        <p:nvSpPr>
          <p:cNvPr id="25" name="Prostokąt 24">
            <a:extLst>
              <a:ext uri="{FF2B5EF4-FFF2-40B4-BE49-F238E27FC236}">
                <a16:creationId xmlns:a16="http://schemas.microsoft.com/office/drawing/2014/main" id="{ECEA9CAF-4F00-4E61-9B6D-8A93C345FEEB}"/>
              </a:ext>
            </a:extLst>
          </p:cNvPr>
          <p:cNvSpPr>
            <a:spLocks noGrp="1"/>
          </p:cNvSpPr>
          <p:nvPr/>
        </p:nvSpPr>
        <p:spPr>
          <a:xfrm>
            <a:off x="5391150" y="3000375"/>
            <a:ext cx="552450" cy="19050"/>
          </a:xfrm>
          <a:prstGeom prst="rect">
            <a:avLst/>
          </a:prstGeom>
          <a:solidFill>
            <a:srgbClr val="0E7C7B"/>
          </a:solidFill>
          <a:ln w="0">
            <a:solidFill>
              <a:srgbClr val="0E7C7B"/>
            </a:solidFill>
            <a:prstDash val="solid"/>
          </a:ln>
        </p:spPr>
      </p:sp>
      <p:sp>
        <p:nvSpPr>
          <p:cNvPr id="26" name="Prostokąt 25">
            <a:extLst>
              <a:ext uri="{FF2B5EF4-FFF2-40B4-BE49-F238E27FC236}">
                <a16:creationId xmlns:a16="http://schemas.microsoft.com/office/drawing/2014/main" id="{B6B83753-69C7-4090-8CC9-3523D78F2890}"/>
              </a:ext>
            </a:extLst>
          </p:cNvPr>
          <p:cNvSpPr>
            <a:spLocks noGrp="1"/>
          </p:cNvSpPr>
          <p:nvPr/>
        </p:nvSpPr>
        <p:spPr>
          <a:xfrm>
            <a:off x="8134350" y="3000375"/>
            <a:ext cx="552450" cy="1905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27" name="Prostokąt 26">
            <a:extLst>
              <a:ext uri="{FF2B5EF4-FFF2-40B4-BE49-F238E27FC236}">
                <a16:creationId xmlns:a16="http://schemas.microsoft.com/office/drawing/2014/main" id="{95031A33-DE19-4583-9BAB-84A98A2F3AC5}"/>
              </a:ext>
            </a:extLst>
          </p:cNvPr>
          <p:cNvSpPr>
            <a:spLocks noGrp="1"/>
          </p:cNvSpPr>
          <p:nvPr/>
        </p:nvSpPr>
        <p:spPr>
          <a:xfrm>
            <a:off x="2876550" y="4210050"/>
            <a:ext cx="219075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8" name="Prostokąt 27">
            <a:extLst>
              <a:ext uri="{FF2B5EF4-FFF2-40B4-BE49-F238E27FC236}">
                <a16:creationId xmlns:a16="http://schemas.microsoft.com/office/drawing/2014/main" id="{C053CF0D-FD6E-46F4-862D-AA53677A68E3}"/>
              </a:ext>
            </a:extLst>
          </p:cNvPr>
          <p:cNvSpPr>
            <a:spLocks noGrp="1"/>
          </p:cNvSpPr>
          <p:nvPr/>
        </p:nvSpPr>
        <p:spPr>
          <a:xfrm>
            <a:off x="2876550" y="4210050"/>
            <a:ext cx="76200" cy="914400"/>
          </a:xfrm>
          <a:prstGeom prst="rect">
            <a:avLst/>
          </a:prstGeom>
          <a:solidFill>
            <a:srgbClr val="F2B134"/>
          </a:solidFill>
          <a:ln w="0">
            <a:solidFill>
              <a:srgbClr val="F2B134"/>
            </a:solidFill>
            <a:prstDash val="solid"/>
          </a:ln>
        </p:spPr>
      </p:sp>
      <p:sp>
        <p:nvSpPr>
          <p:cNvPr id="29" name="Prostokąt 28">
            <a:extLst>
              <a:ext uri="{FF2B5EF4-FFF2-40B4-BE49-F238E27FC236}">
                <a16:creationId xmlns:a16="http://schemas.microsoft.com/office/drawing/2014/main" id="{20D4F4D8-CE6F-4DFD-865E-DD6A1093B380}"/>
              </a:ext>
            </a:extLst>
          </p:cNvPr>
          <p:cNvSpPr>
            <a:spLocks noGrp="1"/>
          </p:cNvSpPr>
          <p:nvPr/>
        </p:nvSpPr>
        <p:spPr>
          <a:xfrm>
            <a:off x="3086100" y="4343400"/>
            <a:ext cx="18669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Outbox worker</a:t>
            </a:r>
          </a:p>
        </p:txBody>
      </p:sp>
      <p:sp>
        <p:nvSpPr>
          <p:cNvPr id="30" name="Prostokąt 29">
            <a:extLst>
              <a:ext uri="{FF2B5EF4-FFF2-40B4-BE49-F238E27FC236}">
                <a16:creationId xmlns:a16="http://schemas.microsoft.com/office/drawing/2014/main" id="{0AE3F2C1-0C11-44DF-861B-371F78FCAFEC}"/>
              </a:ext>
            </a:extLst>
          </p:cNvPr>
          <p:cNvSpPr>
            <a:spLocks noGrp="1"/>
          </p:cNvSpPr>
          <p:nvPr/>
        </p:nvSpPr>
        <p:spPr>
          <a:xfrm>
            <a:off x="3086100" y="4610100"/>
            <a:ext cx="18669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czyta pending events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publikuje do RabbitMQ</a:t>
            </a:r>
          </a:p>
        </p:txBody>
      </p:sp>
      <p:sp>
        <p:nvSpPr>
          <p:cNvPr id="31" name="Prostokąt 30">
            <a:extLst>
              <a:ext uri="{FF2B5EF4-FFF2-40B4-BE49-F238E27FC236}">
                <a16:creationId xmlns:a16="http://schemas.microsoft.com/office/drawing/2014/main" id="{DADD3F4C-4B82-46CE-B8F1-396AF9F25B8E}"/>
              </a:ext>
            </a:extLst>
          </p:cNvPr>
          <p:cNvSpPr>
            <a:spLocks noGrp="1"/>
          </p:cNvSpPr>
          <p:nvPr/>
        </p:nvSpPr>
        <p:spPr>
          <a:xfrm>
            <a:off x="5467350" y="4210050"/>
            <a:ext cx="20955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554C0"/>
            </a:solidFill>
            <a:prstDash val="solid"/>
          </a:ln>
        </p:spPr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4D217883-CAEF-4A33-9408-B8B270810DAA}"/>
              </a:ext>
            </a:extLst>
          </p:cNvPr>
          <p:cNvSpPr>
            <a:spLocks noGrp="1"/>
          </p:cNvSpPr>
          <p:nvPr/>
        </p:nvSpPr>
        <p:spPr>
          <a:xfrm>
            <a:off x="5467350" y="4210050"/>
            <a:ext cx="76200" cy="914400"/>
          </a:xfrm>
          <a:prstGeom prst="rect">
            <a:avLst/>
          </a:prstGeom>
          <a:solidFill>
            <a:srgbClr val="6554C0"/>
          </a:solidFill>
          <a:ln w="0">
            <a:solidFill>
              <a:srgbClr val="6554C0"/>
            </a:solidFill>
            <a:prstDash val="solid"/>
          </a:ln>
        </p:spPr>
      </p:sp>
      <p:sp>
        <p:nvSpPr>
          <p:cNvPr id="33" name="Prostokąt 32">
            <a:extLst>
              <a:ext uri="{FF2B5EF4-FFF2-40B4-BE49-F238E27FC236}">
                <a16:creationId xmlns:a16="http://schemas.microsoft.com/office/drawing/2014/main" id="{D87001B7-63C9-4375-AE2D-38C6DEB5B5AD}"/>
              </a:ext>
            </a:extLst>
          </p:cNvPr>
          <p:cNvSpPr>
            <a:spLocks noGrp="1"/>
          </p:cNvSpPr>
          <p:nvPr/>
        </p:nvSpPr>
        <p:spPr>
          <a:xfrm>
            <a:off x="5676900" y="4343400"/>
            <a:ext cx="17716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RabbitMQ</a:t>
            </a:r>
          </a:p>
        </p:txBody>
      </p:sp>
      <p:sp>
        <p:nvSpPr>
          <p:cNvPr id="34" name="Prostokąt 33">
            <a:extLst>
              <a:ext uri="{FF2B5EF4-FFF2-40B4-BE49-F238E27FC236}">
                <a16:creationId xmlns:a16="http://schemas.microsoft.com/office/drawing/2014/main" id="{BA87BC9B-9216-448B-8894-62A3B2AB8EAC}"/>
              </a:ext>
            </a:extLst>
          </p:cNvPr>
          <p:cNvSpPr>
            <a:spLocks noGrp="1"/>
          </p:cNvSpPr>
          <p:nvPr/>
        </p:nvSpPr>
        <p:spPr>
          <a:xfrm>
            <a:off x="5676900" y="4610100"/>
            <a:ext cx="1771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exchange cinerent.events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routing: topic</a:t>
            </a:r>
          </a:p>
        </p:txBody>
      </p:sp>
      <p:sp>
        <p:nvSpPr>
          <p:cNvPr id="35" name="Prostokąt 34">
            <a:extLst>
              <a:ext uri="{FF2B5EF4-FFF2-40B4-BE49-F238E27FC236}">
                <a16:creationId xmlns:a16="http://schemas.microsoft.com/office/drawing/2014/main" id="{BC8CEB07-3817-4079-A01A-580DC51B2C5A}"/>
              </a:ext>
            </a:extLst>
          </p:cNvPr>
          <p:cNvSpPr>
            <a:spLocks noGrp="1"/>
          </p:cNvSpPr>
          <p:nvPr/>
        </p:nvSpPr>
        <p:spPr>
          <a:xfrm>
            <a:off x="7962900" y="4095750"/>
            <a:ext cx="20955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FDB"/>
            </a:solidFill>
            <a:prstDash val="solid"/>
          </a:ln>
        </p:spPr>
      </p:sp>
      <p:sp>
        <p:nvSpPr>
          <p:cNvPr id="36" name="Prostokąt 35">
            <a:extLst>
              <a:ext uri="{FF2B5EF4-FFF2-40B4-BE49-F238E27FC236}">
                <a16:creationId xmlns:a16="http://schemas.microsoft.com/office/drawing/2014/main" id="{3353EF17-100B-4302-9A3E-6553D081D294}"/>
              </a:ext>
            </a:extLst>
          </p:cNvPr>
          <p:cNvSpPr>
            <a:spLocks noGrp="1"/>
          </p:cNvSpPr>
          <p:nvPr/>
        </p:nvSpPr>
        <p:spPr>
          <a:xfrm>
            <a:off x="7962900" y="4095750"/>
            <a:ext cx="76200" cy="800100"/>
          </a:xfrm>
          <a:prstGeom prst="rect">
            <a:avLst/>
          </a:prstGeom>
          <a:solidFill>
            <a:srgbClr val="2F6FDB"/>
          </a:solidFill>
          <a:ln w="0">
            <a:solidFill>
              <a:srgbClr val="2F6FDB"/>
            </a:solidFill>
            <a:prstDash val="solid"/>
          </a:ln>
        </p:spPr>
      </p:sp>
      <p:sp>
        <p:nvSpPr>
          <p:cNvPr id="37" name="Prostokąt 36">
            <a:extLst>
              <a:ext uri="{FF2B5EF4-FFF2-40B4-BE49-F238E27FC236}">
                <a16:creationId xmlns:a16="http://schemas.microsoft.com/office/drawing/2014/main" id="{B5FF85CD-F486-4E1E-A32D-1B7D845867A9}"/>
              </a:ext>
            </a:extLst>
          </p:cNvPr>
          <p:cNvSpPr>
            <a:spLocks noGrp="1"/>
          </p:cNvSpPr>
          <p:nvPr/>
        </p:nvSpPr>
        <p:spPr>
          <a:xfrm>
            <a:off x="8172450" y="4229100"/>
            <a:ext cx="17716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Notification</a:t>
            </a:r>
          </a:p>
        </p:txBody>
      </p:sp>
      <p:sp>
        <p:nvSpPr>
          <p:cNvPr id="38" name="Prostokąt 37">
            <a:extLst>
              <a:ext uri="{FF2B5EF4-FFF2-40B4-BE49-F238E27FC236}">
                <a16:creationId xmlns:a16="http://schemas.microsoft.com/office/drawing/2014/main" id="{E7EE9F9A-5BEA-427D-A150-2D19A69E291B}"/>
              </a:ext>
            </a:extLst>
          </p:cNvPr>
          <p:cNvSpPr>
            <a:spLocks noGrp="1"/>
          </p:cNvSpPr>
          <p:nvPr/>
        </p:nvSpPr>
        <p:spPr>
          <a:xfrm>
            <a:off x="8172450" y="4495800"/>
            <a:ext cx="1771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subskrybuje rental.*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loguje powiadomienia</a:t>
            </a:r>
          </a:p>
        </p:txBody>
      </p:sp>
      <p:sp>
        <p:nvSpPr>
          <p:cNvPr id="39" name="Prostokąt 38">
            <a:extLst>
              <a:ext uri="{FF2B5EF4-FFF2-40B4-BE49-F238E27FC236}">
                <a16:creationId xmlns:a16="http://schemas.microsoft.com/office/drawing/2014/main" id="{71E5A233-A7C9-4451-8A5E-75132433DEC2}"/>
              </a:ext>
            </a:extLst>
          </p:cNvPr>
          <p:cNvSpPr>
            <a:spLocks noGrp="1"/>
          </p:cNvSpPr>
          <p:nvPr/>
        </p:nvSpPr>
        <p:spPr>
          <a:xfrm>
            <a:off x="7962900" y="5029200"/>
            <a:ext cx="20955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40" name="Prostokąt 39">
            <a:extLst>
              <a:ext uri="{FF2B5EF4-FFF2-40B4-BE49-F238E27FC236}">
                <a16:creationId xmlns:a16="http://schemas.microsoft.com/office/drawing/2014/main" id="{BE43D4F3-4670-4DEE-9F9D-02223E866E08}"/>
              </a:ext>
            </a:extLst>
          </p:cNvPr>
          <p:cNvSpPr>
            <a:spLocks noGrp="1"/>
          </p:cNvSpPr>
          <p:nvPr/>
        </p:nvSpPr>
        <p:spPr>
          <a:xfrm>
            <a:off x="7962900" y="5029200"/>
            <a:ext cx="76200" cy="80010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41" name="Prostokąt 40">
            <a:extLst>
              <a:ext uri="{FF2B5EF4-FFF2-40B4-BE49-F238E27FC236}">
                <a16:creationId xmlns:a16="http://schemas.microsoft.com/office/drawing/2014/main" id="{4133A7B8-C904-4051-B955-3F1BDDD3CD8F}"/>
              </a:ext>
            </a:extLst>
          </p:cNvPr>
          <p:cNvSpPr>
            <a:spLocks noGrp="1"/>
          </p:cNvSpPr>
          <p:nvPr/>
        </p:nvSpPr>
        <p:spPr>
          <a:xfrm>
            <a:off x="8172450" y="5162550"/>
            <a:ext cx="17716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42" name="Prostokąt 41">
            <a:extLst>
              <a:ext uri="{FF2B5EF4-FFF2-40B4-BE49-F238E27FC236}">
                <a16:creationId xmlns:a16="http://schemas.microsoft.com/office/drawing/2014/main" id="{E89A61C8-EC97-4338-8C62-38F54D4DBF1C}"/>
              </a:ext>
            </a:extLst>
          </p:cNvPr>
          <p:cNvSpPr>
            <a:spLocks noGrp="1"/>
          </p:cNvSpPr>
          <p:nvPr/>
        </p:nvSpPr>
        <p:spPr>
          <a:xfrm>
            <a:off x="8172450" y="5429250"/>
            <a:ext cx="1771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subskrybuje #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zapisuje audit_events</a:t>
            </a:r>
          </a:p>
        </p:txBody>
      </p:sp>
      <p:sp>
        <p:nvSpPr>
          <p:cNvPr id="43" name="Prostokąt 42">
            <a:extLst>
              <a:ext uri="{FF2B5EF4-FFF2-40B4-BE49-F238E27FC236}">
                <a16:creationId xmlns:a16="http://schemas.microsoft.com/office/drawing/2014/main" id="{B71B824B-C671-4C51-8C16-663CDA212309}"/>
              </a:ext>
            </a:extLst>
          </p:cNvPr>
          <p:cNvSpPr>
            <a:spLocks noGrp="1"/>
          </p:cNvSpPr>
          <p:nvPr/>
        </p:nvSpPr>
        <p:spPr>
          <a:xfrm>
            <a:off x="4105275" y="3505200"/>
            <a:ext cx="19050" cy="704850"/>
          </a:xfrm>
          <a:prstGeom prst="rect">
            <a:avLst/>
          </a:prstGeom>
          <a:solidFill>
            <a:srgbClr val="F2B134"/>
          </a:solidFill>
          <a:ln w="0">
            <a:solidFill>
              <a:srgbClr val="F2B134"/>
            </a:solidFill>
            <a:prstDash val="solid"/>
          </a:ln>
        </p:spPr>
      </p:sp>
      <p:sp>
        <p:nvSpPr>
          <p:cNvPr id="44" name="Prostokąt 43">
            <a:extLst>
              <a:ext uri="{FF2B5EF4-FFF2-40B4-BE49-F238E27FC236}">
                <a16:creationId xmlns:a16="http://schemas.microsoft.com/office/drawing/2014/main" id="{1C05F986-9B12-47A7-A836-9671407D3A3B}"/>
              </a:ext>
            </a:extLst>
          </p:cNvPr>
          <p:cNvSpPr>
            <a:spLocks noGrp="1"/>
          </p:cNvSpPr>
          <p:nvPr/>
        </p:nvSpPr>
        <p:spPr>
          <a:xfrm>
            <a:off x="5067300" y="4657725"/>
            <a:ext cx="400050" cy="19050"/>
          </a:xfrm>
          <a:prstGeom prst="rect">
            <a:avLst/>
          </a:prstGeom>
          <a:solidFill>
            <a:srgbClr val="6554C0"/>
          </a:solidFill>
          <a:ln w="0">
            <a:solidFill>
              <a:srgbClr val="6554C0"/>
            </a:solidFill>
            <a:prstDash val="solid"/>
          </a:ln>
        </p:spPr>
      </p:sp>
      <p:sp>
        <p:nvSpPr>
          <p:cNvPr id="45" name="Prostokąt 44">
            <a:extLst>
              <a:ext uri="{FF2B5EF4-FFF2-40B4-BE49-F238E27FC236}">
                <a16:creationId xmlns:a16="http://schemas.microsoft.com/office/drawing/2014/main" id="{4C60005B-5551-4390-8B03-9561A27B60EE}"/>
              </a:ext>
            </a:extLst>
          </p:cNvPr>
          <p:cNvSpPr>
            <a:spLocks noGrp="1"/>
          </p:cNvSpPr>
          <p:nvPr/>
        </p:nvSpPr>
        <p:spPr>
          <a:xfrm>
            <a:off x="7562850" y="4657725"/>
            <a:ext cx="400050" cy="19050"/>
          </a:xfrm>
          <a:prstGeom prst="rect">
            <a:avLst/>
          </a:prstGeom>
          <a:solidFill>
            <a:srgbClr val="2F6FDB"/>
          </a:solidFill>
          <a:ln w="0">
            <a:solidFill>
              <a:srgbClr val="2F6FDB"/>
            </a:solidFill>
            <a:prstDash val="solid"/>
          </a:ln>
        </p:spPr>
      </p:sp>
      <p:sp>
        <p:nvSpPr>
          <p:cNvPr id="46" name="Prostokąt 45">
            <a:extLst>
              <a:ext uri="{FF2B5EF4-FFF2-40B4-BE49-F238E27FC236}">
                <a16:creationId xmlns:a16="http://schemas.microsoft.com/office/drawing/2014/main" id="{B8759D90-AAEB-47B5-B274-2E6C1672CA4A}"/>
              </a:ext>
            </a:extLst>
          </p:cNvPr>
          <p:cNvSpPr>
            <a:spLocks noGrp="1"/>
          </p:cNvSpPr>
          <p:nvPr/>
        </p:nvSpPr>
        <p:spPr>
          <a:xfrm>
            <a:off x="7953375" y="4495800"/>
            <a:ext cx="19050" cy="171450"/>
          </a:xfrm>
          <a:prstGeom prst="rect">
            <a:avLst/>
          </a:prstGeom>
          <a:solidFill>
            <a:srgbClr val="2F6FDB"/>
          </a:solidFill>
          <a:ln w="0">
            <a:solidFill>
              <a:srgbClr val="2F6FDB"/>
            </a:solidFill>
            <a:prstDash val="solid"/>
          </a:ln>
        </p:spPr>
      </p:sp>
      <p:sp>
        <p:nvSpPr>
          <p:cNvPr id="47" name="Prostokąt 46">
            <a:extLst>
              <a:ext uri="{FF2B5EF4-FFF2-40B4-BE49-F238E27FC236}">
                <a16:creationId xmlns:a16="http://schemas.microsoft.com/office/drawing/2014/main" id="{B7E29090-0B5E-4197-8178-20D35E6FF4B1}"/>
              </a:ext>
            </a:extLst>
          </p:cNvPr>
          <p:cNvSpPr>
            <a:spLocks noGrp="1"/>
          </p:cNvSpPr>
          <p:nvPr/>
        </p:nvSpPr>
        <p:spPr>
          <a:xfrm>
            <a:off x="7562850" y="4657725"/>
            <a:ext cx="400050" cy="1905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48" name="Prostokąt 47">
            <a:extLst>
              <a:ext uri="{FF2B5EF4-FFF2-40B4-BE49-F238E27FC236}">
                <a16:creationId xmlns:a16="http://schemas.microsoft.com/office/drawing/2014/main" id="{31065A31-8E9B-4406-A0FD-A615FB85BE84}"/>
              </a:ext>
            </a:extLst>
          </p:cNvPr>
          <p:cNvSpPr>
            <a:spLocks noGrp="1"/>
          </p:cNvSpPr>
          <p:nvPr/>
        </p:nvSpPr>
        <p:spPr>
          <a:xfrm>
            <a:off x="7953375" y="4667250"/>
            <a:ext cx="19050" cy="76200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49" name="Prostokąt 48">
            <a:extLst>
              <a:ext uri="{FF2B5EF4-FFF2-40B4-BE49-F238E27FC236}">
                <a16:creationId xmlns:a16="http://schemas.microsoft.com/office/drawing/2014/main" id="{3F11C4F6-8CEE-4265-98AC-96888025D1AF}"/>
              </a:ext>
            </a:extLst>
          </p:cNvPr>
          <p:cNvSpPr>
            <a:spLocks noGrp="1"/>
          </p:cNvSpPr>
          <p:nvPr/>
        </p:nvSpPr>
        <p:spPr>
          <a:xfrm>
            <a:off x="1143000" y="5638800"/>
            <a:ext cx="581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Obserwowalność i discovery: Grafana + Loki + Promtail, Jaeger, Consul</a:t>
            </a:r>
          </a:p>
        </p:txBody>
      </p:sp>
    </p:spTree>
    <p:extLst>
      <p:ext uri="{BB962C8B-B14F-4D97-AF65-F5344CB8AC3E}">
        <p14:creationId xmlns:p14="http://schemas.microsoft.com/office/powerpoint/2010/main" val="1756744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rostokąt 32">
            <a:extLst>
              <a:ext uri="{FF2B5EF4-FFF2-40B4-BE49-F238E27FC236}">
                <a16:creationId xmlns:a16="http://schemas.microsoft.com/office/drawing/2014/main" id="{B8F8C9E1-97F4-4D20-961F-DFD4C58C79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2"/>
          </a:solidFill>
          <a:ln w="0">
            <a:solidFill>
              <a:srgbClr val="F8F7F2"/>
            </a:solidFill>
            <a:prstDash val="solid"/>
          </a:ln>
        </p:spPr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E2AFD737-8CA6-416E-8FB8-74FFA966258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EDGE LAYER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96812D4A-A288-4CC2-9726-D9CCE2D2B387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885825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Gateway przejmuje odpowiedzialność za wejście do API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8AC21A11-3DD0-469E-8C2D-97CE4CF4DBFB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Frontend nadal woła /api, ale ruch przechodzi przez osobny kontener api-gateway.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4D85374B-CB61-4A01-91DE-01BB6160E02B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972800" cy="14288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56D465C9-F3C3-417C-95AD-913B54AD882F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CineRent | architektura mikroserwisowa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0C375D03-80D1-4E51-8B3F-3D9F4403EB4B}"/>
              </a:ext>
            </a:extLst>
          </p:cNvPr>
          <p:cNvSpPr>
            <a:spLocks noGrp="1"/>
          </p:cNvSpPr>
          <p:nvPr/>
        </p:nvSpPr>
        <p:spPr>
          <a:xfrm>
            <a:off x="10906125" y="6486525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84E656D6-2D44-4A5E-959E-B495BD18754A}"/>
              </a:ext>
            </a:extLst>
          </p:cNvPr>
          <p:cNvSpPr>
            <a:spLocks noGrp="1"/>
          </p:cNvSpPr>
          <p:nvPr/>
        </p:nvSpPr>
        <p:spPr>
          <a:xfrm>
            <a:off x="914400" y="2628900"/>
            <a:ext cx="20955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FDB"/>
            </a:solidFill>
            <a:prstDash val="solid"/>
          </a:ln>
        </p:spPr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A57B3B53-0095-4D68-85F1-4520B2633EC9}"/>
              </a:ext>
            </a:extLst>
          </p:cNvPr>
          <p:cNvSpPr>
            <a:spLocks noGrp="1"/>
          </p:cNvSpPr>
          <p:nvPr/>
        </p:nvSpPr>
        <p:spPr>
          <a:xfrm>
            <a:off x="914400" y="2628900"/>
            <a:ext cx="76200" cy="952500"/>
          </a:xfrm>
          <a:prstGeom prst="rect">
            <a:avLst/>
          </a:prstGeom>
          <a:solidFill>
            <a:srgbClr val="2F6FDB"/>
          </a:solidFill>
          <a:ln w="0">
            <a:solidFill>
              <a:srgbClr val="2F6FDB"/>
            </a:solidFill>
            <a:prstDash val="solid"/>
          </a:ln>
        </p:spPr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F9B002CC-8C4B-4C2E-A6C9-4961557E564F}"/>
              </a:ext>
            </a:extLst>
          </p:cNvPr>
          <p:cNvSpPr>
            <a:spLocks noGrp="1"/>
          </p:cNvSpPr>
          <p:nvPr/>
        </p:nvSpPr>
        <p:spPr>
          <a:xfrm>
            <a:off x="1123950" y="2762250"/>
            <a:ext cx="17716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Przeglądarka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1A057C68-3923-451C-9DB9-B4B0D9CE7AB8}"/>
              </a:ext>
            </a:extLst>
          </p:cNvPr>
          <p:cNvSpPr>
            <a:spLocks noGrp="1"/>
          </p:cNvSpPr>
          <p:nvPr/>
        </p:nvSpPr>
        <p:spPr>
          <a:xfrm>
            <a:off x="1123950" y="3028950"/>
            <a:ext cx="17716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http://localhost:8080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D9E1150B-56F7-4685-BF0E-0CA01827ADDA}"/>
              </a:ext>
            </a:extLst>
          </p:cNvPr>
          <p:cNvSpPr>
            <a:spLocks noGrp="1"/>
          </p:cNvSpPr>
          <p:nvPr/>
        </p:nvSpPr>
        <p:spPr>
          <a:xfrm>
            <a:off x="3714750" y="2628900"/>
            <a:ext cx="22860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382A058-6784-4623-AB13-B349A681CA04}"/>
              </a:ext>
            </a:extLst>
          </p:cNvPr>
          <p:cNvSpPr>
            <a:spLocks noGrp="1"/>
          </p:cNvSpPr>
          <p:nvPr/>
        </p:nvSpPr>
        <p:spPr>
          <a:xfrm>
            <a:off x="3714750" y="2628900"/>
            <a:ext cx="76200" cy="952500"/>
          </a:xfrm>
          <a:prstGeom prst="rect">
            <a:avLst/>
          </a:prstGeom>
          <a:solidFill>
            <a:srgbClr val="F2B134"/>
          </a:solidFill>
          <a:ln w="0">
            <a:solidFill>
              <a:srgbClr val="F2B134"/>
            </a:solidFill>
            <a:prstDash val="solid"/>
          </a:ln>
        </p:spPr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3C611F04-8693-4A71-A281-AB91FA39921E}"/>
              </a:ext>
            </a:extLst>
          </p:cNvPr>
          <p:cNvSpPr>
            <a:spLocks noGrp="1"/>
          </p:cNvSpPr>
          <p:nvPr/>
        </p:nvSpPr>
        <p:spPr>
          <a:xfrm>
            <a:off x="3924300" y="2762250"/>
            <a:ext cx="19621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Frontend Nginx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FC453FAC-1A0B-4602-A7C0-9022B417D04C}"/>
              </a:ext>
            </a:extLst>
          </p:cNvPr>
          <p:cNvSpPr>
            <a:spLocks noGrp="1"/>
          </p:cNvSpPr>
          <p:nvPr/>
        </p:nvSpPr>
        <p:spPr>
          <a:xfrm>
            <a:off x="3924300" y="3028950"/>
            <a:ext cx="19621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proxy /api -&gt; api-gateway:80</a:t>
            </a: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AE08FBB4-1F1A-4FB2-A0A2-0EC80C281478}"/>
              </a:ext>
            </a:extLst>
          </p:cNvPr>
          <p:cNvSpPr>
            <a:spLocks noGrp="1"/>
          </p:cNvSpPr>
          <p:nvPr/>
        </p:nvSpPr>
        <p:spPr>
          <a:xfrm>
            <a:off x="6705600" y="2381250"/>
            <a:ext cx="2667000" cy="121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</p:spPr>
      </p:sp>
      <p:sp>
        <p:nvSpPr>
          <p:cNvPr id="17" name="Prostokąt 16">
            <a:extLst>
              <a:ext uri="{FF2B5EF4-FFF2-40B4-BE49-F238E27FC236}">
                <a16:creationId xmlns:a16="http://schemas.microsoft.com/office/drawing/2014/main" id="{702E7ECB-D7A7-4521-A77C-737650DC1831}"/>
              </a:ext>
            </a:extLst>
          </p:cNvPr>
          <p:cNvSpPr>
            <a:spLocks noGrp="1"/>
          </p:cNvSpPr>
          <p:nvPr/>
        </p:nvSpPr>
        <p:spPr>
          <a:xfrm>
            <a:off x="6705600" y="2381250"/>
            <a:ext cx="76200" cy="1219200"/>
          </a:xfrm>
          <a:prstGeom prst="rect">
            <a:avLst/>
          </a:prstGeom>
          <a:solidFill>
            <a:srgbClr val="E85D4A"/>
          </a:solidFill>
          <a:ln w="0">
            <a:solidFill>
              <a:srgbClr val="E85D4A"/>
            </a:solidFill>
            <a:prstDash val="solid"/>
          </a:ln>
        </p:spPr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274F5B33-EF18-4C6F-8EEE-C101DE01BC11}"/>
              </a:ext>
            </a:extLst>
          </p:cNvPr>
          <p:cNvSpPr>
            <a:spLocks noGrp="1"/>
          </p:cNvSpPr>
          <p:nvPr/>
        </p:nvSpPr>
        <p:spPr>
          <a:xfrm>
            <a:off x="6915150" y="2514600"/>
            <a:ext cx="23431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API Gateway</a:t>
            </a:r>
          </a:p>
        </p:txBody>
      </p:sp>
      <p:sp>
        <p:nvSpPr>
          <p:cNvPr id="19" name="Prostokąt 18">
            <a:extLst>
              <a:ext uri="{FF2B5EF4-FFF2-40B4-BE49-F238E27FC236}">
                <a16:creationId xmlns:a16="http://schemas.microsoft.com/office/drawing/2014/main" id="{E2C17A51-DB61-4338-A7BB-8269FD3C5313}"/>
              </a:ext>
            </a:extLst>
          </p:cNvPr>
          <p:cNvSpPr>
            <a:spLocks noGrp="1"/>
          </p:cNvSpPr>
          <p:nvPr/>
        </p:nvSpPr>
        <p:spPr>
          <a:xfrm>
            <a:off x="6915150" y="2781300"/>
            <a:ext cx="23431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Nginx upstream backend:5000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X-Gateway, nosniff, /health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22CD4159-D827-4EF7-BD32-66E1BB1BBCC8}"/>
              </a:ext>
            </a:extLst>
          </p:cNvPr>
          <p:cNvSpPr>
            <a:spLocks noGrp="1"/>
          </p:cNvSpPr>
          <p:nvPr/>
        </p:nvSpPr>
        <p:spPr>
          <a:xfrm>
            <a:off x="9810750" y="2628900"/>
            <a:ext cx="19050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21" name="Prostokąt 20">
            <a:extLst>
              <a:ext uri="{FF2B5EF4-FFF2-40B4-BE49-F238E27FC236}">
                <a16:creationId xmlns:a16="http://schemas.microsoft.com/office/drawing/2014/main" id="{5BD628A8-4725-4807-A8B1-5297F7F804B8}"/>
              </a:ext>
            </a:extLst>
          </p:cNvPr>
          <p:cNvSpPr>
            <a:spLocks noGrp="1"/>
          </p:cNvSpPr>
          <p:nvPr/>
        </p:nvSpPr>
        <p:spPr>
          <a:xfrm>
            <a:off x="9810750" y="2628900"/>
            <a:ext cx="76200" cy="952500"/>
          </a:xfrm>
          <a:prstGeom prst="rect">
            <a:avLst/>
          </a:prstGeom>
          <a:solidFill>
            <a:srgbClr val="0E7C7B"/>
          </a:solidFill>
          <a:ln w="0">
            <a:solidFill>
              <a:srgbClr val="0E7C7B"/>
            </a:solidFill>
            <a:prstDash val="solid"/>
          </a:ln>
        </p:spPr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20922A34-9422-43B8-B29A-2BE4E346DD69}"/>
              </a:ext>
            </a:extLst>
          </p:cNvPr>
          <p:cNvSpPr>
            <a:spLocks noGrp="1"/>
          </p:cNvSpPr>
          <p:nvPr/>
        </p:nvSpPr>
        <p:spPr>
          <a:xfrm>
            <a:off x="10020300" y="2762250"/>
            <a:ext cx="15811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2EA197ED-FA29-4D29-9DD1-83A779F44E4C}"/>
              </a:ext>
            </a:extLst>
          </p:cNvPr>
          <p:cNvSpPr>
            <a:spLocks noGrp="1"/>
          </p:cNvSpPr>
          <p:nvPr/>
        </p:nvSpPr>
        <p:spPr>
          <a:xfrm>
            <a:off x="10020300" y="3028950"/>
            <a:ext cx="15811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Flask endpoints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/api/auth, /api/movies, /api/rentals</a:t>
            </a:r>
          </a:p>
        </p:txBody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BF7B41F5-22CF-4000-8C4D-B83449BEA012}"/>
              </a:ext>
            </a:extLst>
          </p:cNvPr>
          <p:cNvSpPr>
            <a:spLocks noGrp="1"/>
          </p:cNvSpPr>
          <p:nvPr/>
        </p:nvSpPr>
        <p:spPr>
          <a:xfrm>
            <a:off x="3009900" y="3095625"/>
            <a:ext cx="704850" cy="19050"/>
          </a:xfrm>
          <a:prstGeom prst="rect">
            <a:avLst/>
          </a:prstGeom>
          <a:solidFill>
            <a:srgbClr val="2F6FDB"/>
          </a:solidFill>
          <a:ln w="0">
            <a:solidFill>
              <a:srgbClr val="2F6FDB"/>
            </a:solidFill>
            <a:prstDash val="solid"/>
          </a:ln>
        </p:spPr>
      </p:sp>
      <p:sp>
        <p:nvSpPr>
          <p:cNvPr id="25" name="Prostokąt 24">
            <a:extLst>
              <a:ext uri="{FF2B5EF4-FFF2-40B4-BE49-F238E27FC236}">
                <a16:creationId xmlns:a16="http://schemas.microsoft.com/office/drawing/2014/main" id="{27720B9C-DFBD-4228-B70D-47CF08114AE5}"/>
              </a:ext>
            </a:extLst>
          </p:cNvPr>
          <p:cNvSpPr>
            <a:spLocks noGrp="1"/>
          </p:cNvSpPr>
          <p:nvPr/>
        </p:nvSpPr>
        <p:spPr>
          <a:xfrm>
            <a:off x="6000750" y="3095625"/>
            <a:ext cx="704850" cy="19050"/>
          </a:xfrm>
          <a:prstGeom prst="rect">
            <a:avLst/>
          </a:prstGeom>
          <a:solidFill>
            <a:srgbClr val="F2B134"/>
          </a:solidFill>
          <a:ln w="0">
            <a:solidFill>
              <a:srgbClr val="F2B134"/>
            </a:solidFill>
            <a:prstDash val="solid"/>
          </a:ln>
        </p:spPr>
      </p:sp>
      <p:sp>
        <p:nvSpPr>
          <p:cNvPr id="26" name="Prostokąt 25">
            <a:extLst>
              <a:ext uri="{FF2B5EF4-FFF2-40B4-BE49-F238E27FC236}">
                <a16:creationId xmlns:a16="http://schemas.microsoft.com/office/drawing/2014/main" id="{6AA243BE-B31D-4C3E-9AAB-9BA7EE2D7A95}"/>
              </a:ext>
            </a:extLst>
          </p:cNvPr>
          <p:cNvSpPr>
            <a:spLocks noGrp="1"/>
          </p:cNvSpPr>
          <p:nvPr/>
        </p:nvSpPr>
        <p:spPr>
          <a:xfrm>
            <a:off x="9372600" y="3095625"/>
            <a:ext cx="438150" cy="19050"/>
          </a:xfrm>
          <a:prstGeom prst="rect">
            <a:avLst/>
          </a:prstGeom>
          <a:solidFill>
            <a:srgbClr val="0E7C7B"/>
          </a:solidFill>
          <a:ln w="0">
            <a:solidFill>
              <a:srgbClr val="0E7C7B"/>
            </a:solidFill>
            <a:prstDash val="solid"/>
          </a:ln>
        </p:spPr>
      </p:sp>
      <p:sp>
        <p:nvSpPr>
          <p:cNvPr id="27" name="Prostokąt 26">
            <a:extLst>
              <a:ext uri="{FF2B5EF4-FFF2-40B4-BE49-F238E27FC236}">
                <a16:creationId xmlns:a16="http://schemas.microsoft.com/office/drawing/2014/main" id="{5FA0B1C7-4B5E-4F56-869C-F724839BD29F}"/>
              </a:ext>
            </a:extLst>
          </p:cNvPr>
          <p:cNvSpPr>
            <a:spLocks noGrp="1"/>
          </p:cNvSpPr>
          <p:nvPr/>
        </p:nvSpPr>
        <p:spPr>
          <a:xfrm>
            <a:off x="1123950" y="4400550"/>
            <a:ext cx="4210050" cy="1123950"/>
          </a:xfrm>
          <a:prstGeom prst="rect">
            <a:avLst/>
          </a:prstGeom>
          <a:solidFill>
            <a:srgbClr val="111827"/>
          </a:solidFill>
          <a:ln w="19050">
            <a:solidFill>
              <a:srgbClr val="E85D4A"/>
            </a:solidFill>
            <a:prstDash val="solid"/>
          </a:ln>
        </p:spPr>
      </p:sp>
      <p:sp>
        <p:nvSpPr>
          <p:cNvPr id="28" name="Prostokąt 27">
            <a:extLst>
              <a:ext uri="{FF2B5EF4-FFF2-40B4-BE49-F238E27FC236}">
                <a16:creationId xmlns:a16="http://schemas.microsoft.com/office/drawing/2014/main" id="{994E542D-6C9B-48BD-9DCC-4814FFFF5D0B}"/>
              </a:ext>
            </a:extLst>
          </p:cNvPr>
          <p:cNvSpPr>
            <a:spLocks noGrp="1"/>
          </p:cNvSpPr>
          <p:nvPr/>
        </p:nvSpPr>
        <p:spPr>
          <a:xfrm>
            <a:off x="1295400" y="4533900"/>
            <a:ext cx="3867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E8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85D4A"/>
                </a:solidFill>
                <a:latin typeface="Aptos"/>
                <a:ea typeface="Aptos"/>
                <a:cs typeface="Aptos"/>
              </a:rPr>
              <a:t>Rate limiting w gatewayu</a:t>
            </a:r>
          </a:p>
        </p:txBody>
      </p:sp>
      <p:sp>
        <p:nvSpPr>
          <p:cNvPr id="29" name="Prostokąt 28">
            <a:extLst>
              <a:ext uri="{FF2B5EF4-FFF2-40B4-BE49-F238E27FC236}">
                <a16:creationId xmlns:a16="http://schemas.microsoft.com/office/drawing/2014/main" id="{2BD2EBF8-FFBF-4D6E-B576-19FC8172DF24}"/>
              </a:ext>
            </a:extLst>
          </p:cNvPr>
          <p:cNvSpPr>
            <a:spLocks noGrp="1"/>
          </p:cNvSpPr>
          <p:nvPr/>
        </p:nvSpPr>
        <p:spPr>
          <a:xfrm>
            <a:off x="1295400" y="4781550"/>
            <a:ext cx="38671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api_rate: 10r/s, burst 30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auth_rate: 5r/m, burst 5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limit_req_status 429</a:t>
            </a:r>
          </a:p>
        </p:txBody>
      </p:sp>
      <p:sp>
        <p:nvSpPr>
          <p:cNvPr id="30" name="Prostokąt 29">
            <a:extLst>
              <a:ext uri="{FF2B5EF4-FFF2-40B4-BE49-F238E27FC236}">
                <a16:creationId xmlns:a16="http://schemas.microsoft.com/office/drawing/2014/main" id="{99A7B7D5-F8EB-4AF3-98EB-46B9B78FA420}"/>
              </a:ext>
            </a:extLst>
          </p:cNvPr>
          <p:cNvSpPr>
            <a:spLocks noGrp="1"/>
          </p:cNvSpPr>
          <p:nvPr/>
        </p:nvSpPr>
        <p:spPr>
          <a:xfrm>
            <a:off x="6172200" y="4400550"/>
            <a:ext cx="4476750" cy="1123950"/>
          </a:xfrm>
          <a:prstGeom prst="rect">
            <a:avLst/>
          </a:prstGeom>
          <a:solidFill>
            <a:srgbClr val="111827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31" name="Prostokąt 30">
            <a:extLst>
              <a:ext uri="{FF2B5EF4-FFF2-40B4-BE49-F238E27FC236}">
                <a16:creationId xmlns:a16="http://schemas.microsoft.com/office/drawing/2014/main" id="{97924272-459B-4E14-9105-5524ED9C5EE5}"/>
              </a:ext>
            </a:extLst>
          </p:cNvPr>
          <p:cNvSpPr>
            <a:spLocks noGrp="1"/>
          </p:cNvSpPr>
          <p:nvPr/>
        </p:nvSpPr>
        <p:spPr>
          <a:xfrm>
            <a:off x="6343650" y="4533900"/>
            <a:ext cx="413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9D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9D6F"/>
                </a:solidFill>
                <a:latin typeface="Aptos"/>
                <a:ea typeface="Aptos"/>
                <a:cs typeface="Aptos"/>
              </a:rPr>
              <a:t>Dowód z odpowiedzi HTTP</a:t>
            </a:r>
          </a:p>
        </p:txBody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5F2DCF6A-ED85-4177-BBEA-246CB927144D}"/>
              </a:ext>
            </a:extLst>
          </p:cNvPr>
          <p:cNvSpPr>
            <a:spLocks noGrp="1"/>
          </p:cNvSpPr>
          <p:nvPr/>
        </p:nvSpPr>
        <p:spPr>
          <a:xfrm>
            <a:off x="6343650" y="4781550"/>
            <a:ext cx="41338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X-Gateway: cinerent-api-gateway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Content-Type: application/json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GET /api/genres -&gt; 200</a:t>
            </a:r>
          </a:p>
        </p:txBody>
      </p:sp>
    </p:spTree>
    <p:extLst>
      <p:ext uri="{BB962C8B-B14F-4D97-AF65-F5344CB8AC3E}">
        <p14:creationId xmlns:p14="http://schemas.microsoft.com/office/powerpoint/2010/main" val="88680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rostokąt 48">
            <a:extLst>
              <a:ext uri="{FF2B5EF4-FFF2-40B4-BE49-F238E27FC236}">
                <a16:creationId xmlns:a16="http://schemas.microsoft.com/office/drawing/2014/main" id="{E579BD16-7589-4B6F-AB36-E1225814C1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2"/>
          </a:solidFill>
          <a:ln w="0">
            <a:solidFill>
              <a:srgbClr val="F8F7F2"/>
            </a:solidFill>
            <a:prstDash val="solid"/>
          </a:ln>
        </p:spPr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2C02DE71-899D-429E-A2A3-AF6E491EC6D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KOMUNIKACJA ZDARZENIOWA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7EEE8FD4-C623-4747-B3B4-6F1A1826BDDE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885825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Zdarzenia odpinają operacje biznesowe od usług pobocznych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7C841548-38E0-4610-9292-1277A60E922C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Backend zapisuje fakt domenowy, a publikacja i reakcje dzieją się asynchronicznie.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384CD4C7-E3D4-4022-889D-9C0DB5FEAC31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972800" cy="14288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D087FA21-1B4B-4713-9C0D-F152B8C3CB9A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CineRent | architektura mikroserwisowa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179ED8A1-0816-4A7D-9620-F1E3BDA38778}"/>
              </a:ext>
            </a:extLst>
          </p:cNvPr>
          <p:cNvSpPr>
            <a:spLocks noGrp="1"/>
          </p:cNvSpPr>
          <p:nvPr/>
        </p:nvSpPr>
        <p:spPr>
          <a:xfrm>
            <a:off x="10906125" y="6486525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76B58F88-B3D1-4936-8EC6-9FE606803DD1}"/>
              </a:ext>
            </a:extLst>
          </p:cNvPr>
          <p:cNvSpPr>
            <a:spLocks noGrp="1"/>
          </p:cNvSpPr>
          <p:nvPr/>
        </p:nvSpPr>
        <p:spPr>
          <a:xfrm>
            <a:off x="685800" y="2819400"/>
            <a:ext cx="1428750" cy="142875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FDB"/>
            </a:solidFill>
            <a:prstDash val="solid"/>
          </a:ln>
        </p:spPr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A37D2C16-94EB-451B-9EF3-9B10A7F07947}"/>
              </a:ext>
            </a:extLst>
          </p:cNvPr>
          <p:cNvSpPr>
            <a:spLocks noGrp="1"/>
          </p:cNvSpPr>
          <p:nvPr/>
        </p:nvSpPr>
        <p:spPr>
          <a:xfrm>
            <a:off x="838200" y="2990850"/>
            <a:ext cx="323850" cy="323850"/>
          </a:xfrm>
          <a:prstGeom prst="rect">
            <a:avLst/>
          </a:prstGeom>
          <a:solidFill>
            <a:srgbClr val="2F6FDB"/>
          </a:solidFill>
          <a:ln w="0">
            <a:solidFill>
              <a:srgbClr val="2F6FDB"/>
            </a:solidFill>
            <a:prstDash val="solid"/>
          </a:ln>
        </p:spPr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E192E524-96A2-4ED7-8C88-8602E0898C52}"/>
              </a:ext>
            </a:extLst>
          </p:cNvPr>
          <p:cNvSpPr>
            <a:spLocks noGrp="1"/>
          </p:cNvSpPr>
          <p:nvPr/>
        </p:nvSpPr>
        <p:spPr>
          <a:xfrm>
            <a:off x="838200" y="3057525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D621B3F2-4DF1-41F1-ABDF-1D6C6FCE7590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1123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 /api/rentals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51EBE719-FCE7-4478-95A5-D9F25AC4E476}"/>
              </a:ext>
            </a:extLst>
          </p:cNvPr>
          <p:cNvSpPr>
            <a:spLocks noGrp="1"/>
          </p:cNvSpPr>
          <p:nvPr/>
        </p:nvSpPr>
        <p:spPr>
          <a:xfrm>
            <a:off x="838200" y="3781425"/>
            <a:ext cx="11239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użytkownik wypożycza film</a:t>
            </a: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3C9F1CCE-2722-4DCB-8F02-F8EE1CB081D2}"/>
              </a:ext>
            </a:extLst>
          </p:cNvPr>
          <p:cNvSpPr>
            <a:spLocks noGrp="1"/>
          </p:cNvSpPr>
          <p:nvPr/>
        </p:nvSpPr>
        <p:spPr>
          <a:xfrm>
            <a:off x="2114550" y="3524250"/>
            <a:ext cx="419100" cy="19050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422DBA20-30E8-4D79-838F-6ADC10083B3E}"/>
              </a:ext>
            </a:extLst>
          </p:cNvPr>
          <p:cNvSpPr>
            <a:spLocks noGrp="1"/>
          </p:cNvSpPr>
          <p:nvPr/>
        </p:nvSpPr>
        <p:spPr>
          <a:xfrm>
            <a:off x="2533650" y="2819400"/>
            <a:ext cx="1428750" cy="1428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2C829801-826F-4645-A613-BE05FA413FB6}"/>
              </a:ext>
            </a:extLst>
          </p:cNvPr>
          <p:cNvSpPr>
            <a:spLocks noGrp="1"/>
          </p:cNvSpPr>
          <p:nvPr/>
        </p:nvSpPr>
        <p:spPr>
          <a:xfrm>
            <a:off x="2686050" y="2990850"/>
            <a:ext cx="323850" cy="323850"/>
          </a:xfrm>
          <a:prstGeom prst="rect">
            <a:avLst/>
          </a:prstGeom>
          <a:solidFill>
            <a:srgbClr val="0E7C7B"/>
          </a:solidFill>
          <a:ln w="0">
            <a:solidFill>
              <a:srgbClr val="0E7C7B"/>
            </a:solidFill>
            <a:prstDash val="solid"/>
          </a:ln>
        </p:spPr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165D499E-C737-49C3-92B6-77BE640C50E5}"/>
              </a:ext>
            </a:extLst>
          </p:cNvPr>
          <p:cNvSpPr>
            <a:spLocks noGrp="1"/>
          </p:cNvSpPr>
          <p:nvPr/>
        </p:nvSpPr>
        <p:spPr>
          <a:xfrm>
            <a:off x="2686050" y="3057525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Prostokąt 16">
            <a:extLst>
              <a:ext uri="{FF2B5EF4-FFF2-40B4-BE49-F238E27FC236}">
                <a16:creationId xmlns:a16="http://schemas.microsoft.com/office/drawing/2014/main" id="{9EC1AA82-5EB8-4B05-9800-291C5803BB08}"/>
              </a:ext>
            </a:extLst>
          </p:cNvPr>
          <p:cNvSpPr>
            <a:spLocks noGrp="1"/>
          </p:cNvSpPr>
          <p:nvPr/>
        </p:nvSpPr>
        <p:spPr>
          <a:xfrm>
            <a:off x="2686050" y="3486150"/>
            <a:ext cx="1123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CFCEB47E-92D0-4DDB-95DF-65FC155E9456}"/>
              </a:ext>
            </a:extLst>
          </p:cNvPr>
          <p:cNvSpPr>
            <a:spLocks noGrp="1"/>
          </p:cNvSpPr>
          <p:nvPr/>
        </p:nvSpPr>
        <p:spPr>
          <a:xfrm>
            <a:off x="2686050" y="3781425"/>
            <a:ext cx="11239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walidacja + zapis rental</a:t>
            </a:r>
          </a:p>
        </p:txBody>
      </p:sp>
      <p:sp>
        <p:nvSpPr>
          <p:cNvPr id="19" name="Prostokąt 18">
            <a:extLst>
              <a:ext uri="{FF2B5EF4-FFF2-40B4-BE49-F238E27FC236}">
                <a16:creationId xmlns:a16="http://schemas.microsoft.com/office/drawing/2014/main" id="{39C2985F-9CBD-4C6C-820E-D61739AF4605}"/>
              </a:ext>
            </a:extLst>
          </p:cNvPr>
          <p:cNvSpPr>
            <a:spLocks noGrp="1"/>
          </p:cNvSpPr>
          <p:nvPr/>
        </p:nvSpPr>
        <p:spPr>
          <a:xfrm>
            <a:off x="3962400" y="3524250"/>
            <a:ext cx="419100" cy="19050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EB87D876-E046-42B6-A780-23F2775EF5E3}"/>
              </a:ext>
            </a:extLst>
          </p:cNvPr>
          <p:cNvSpPr>
            <a:spLocks noGrp="1"/>
          </p:cNvSpPr>
          <p:nvPr/>
        </p:nvSpPr>
        <p:spPr>
          <a:xfrm>
            <a:off x="4381500" y="2819400"/>
            <a:ext cx="1428750" cy="1428750"/>
          </a:xfrm>
          <a:prstGeom prst="rect">
            <a:avLst/>
          </a:prstGeom>
          <a:solidFill>
            <a:srgbClr val="FFFFFF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21" name="Prostokąt 20">
            <a:extLst>
              <a:ext uri="{FF2B5EF4-FFF2-40B4-BE49-F238E27FC236}">
                <a16:creationId xmlns:a16="http://schemas.microsoft.com/office/drawing/2014/main" id="{734E351E-D809-4843-B8D0-A0D7E8907DAE}"/>
              </a:ext>
            </a:extLst>
          </p:cNvPr>
          <p:cNvSpPr>
            <a:spLocks noGrp="1"/>
          </p:cNvSpPr>
          <p:nvPr/>
        </p:nvSpPr>
        <p:spPr>
          <a:xfrm>
            <a:off x="4533900" y="2990850"/>
            <a:ext cx="323850" cy="32385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00DBE5FB-4468-4593-82A5-9771EF6E1420}"/>
              </a:ext>
            </a:extLst>
          </p:cNvPr>
          <p:cNvSpPr>
            <a:spLocks noGrp="1"/>
          </p:cNvSpPr>
          <p:nvPr/>
        </p:nvSpPr>
        <p:spPr>
          <a:xfrm>
            <a:off x="4533900" y="3057525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DB472BC1-28CC-48AD-AE50-0C19714F4633}"/>
              </a:ext>
            </a:extLst>
          </p:cNvPr>
          <p:cNvSpPr>
            <a:spLocks noGrp="1"/>
          </p:cNvSpPr>
          <p:nvPr/>
        </p:nvSpPr>
        <p:spPr>
          <a:xfrm>
            <a:off x="4533900" y="3486150"/>
            <a:ext cx="1123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outbox_events</a:t>
            </a:r>
          </a:p>
        </p:txBody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C5471346-B006-4002-AF4C-31F0E4B55D08}"/>
              </a:ext>
            </a:extLst>
          </p:cNvPr>
          <p:cNvSpPr>
            <a:spLocks noGrp="1"/>
          </p:cNvSpPr>
          <p:nvPr/>
        </p:nvSpPr>
        <p:spPr>
          <a:xfrm>
            <a:off x="4533900" y="3781425"/>
            <a:ext cx="11239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event rental.created jako pending</a:t>
            </a:r>
          </a:p>
        </p:txBody>
      </p:sp>
      <p:sp>
        <p:nvSpPr>
          <p:cNvPr id="25" name="Prostokąt 24">
            <a:extLst>
              <a:ext uri="{FF2B5EF4-FFF2-40B4-BE49-F238E27FC236}">
                <a16:creationId xmlns:a16="http://schemas.microsoft.com/office/drawing/2014/main" id="{61A344E7-BF6E-4ED3-82EC-FA166FBB3963}"/>
              </a:ext>
            </a:extLst>
          </p:cNvPr>
          <p:cNvSpPr>
            <a:spLocks noGrp="1"/>
          </p:cNvSpPr>
          <p:nvPr/>
        </p:nvSpPr>
        <p:spPr>
          <a:xfrm>
            <a:off x="5810250" y="3524250"/>
            <a:ext cx="419100" cy="19050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26" name="Prostokąt 25">
            <a:extLst>
              <a:ext uri="{FF2B5EF4-FFF2-40B4-BE49-F238E27FC236}">
                <a16:creationId xmlns:a16="http://schemas.microsoft.com/office/drawing/2014/main" id="{5C301319-BA85-4B68-9026-D0506B949B62}"/>
              </a:ext>
            </a:extLst>
          </p:cNvPr>
          <p:cNvSpPr>
            <a:spLocks noGrp="1"/>
          </p:cNvSpPr>
          <p:nvPr/>
        </p:nvSpPr>
        <p:spPr>
          <a:xfrm>
            <a:off x="6229350" y="2819400"/>
            <a:ext cx="1428750" cy="1428750"/>
          </a:xfrm>
          <a:prstGeom prst="rect">
            <a:avLst/>
          </a:prstGeom>
          <a:solidFill>
            <a:srgbClr val="FFFFFF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7" name="Prostokąt 26">
            <a:extLst>
              <a:ext uri="{FF2B5EF4-FFF2-40B4-BE49-F238E27FC236}">
                <a16:creationId xmlns:a16="http://schemas.microsoft.com/office/drawing/2014/main" id="{F302F6EA-F896-4048-B000-F6165206D113}"/>
              </a:ext>
            </a:extLst>
          </p:cNvPr>
          <p:cNvSpPr>
            <a:spLocks noGrp="1"/>
          </p:cNvSpPr>
          <p:nvPr/>
        </p:nvSpPr>
        <p:spPr>
          <a:xfrm>
            <a:off x="6381750" y="2990850"/>
            <a:ext cx="323850" cy="323850"/>
          </a:xfrm>
          <a:prstGeom prst="rect">
            <a:avLst/>
          </a:prstGeom>
          <a:solidFill>
            <a:srgbClr val="F2B134"/>
          </a:solidFill>
          <a:ln w="0">
            <a:solidFill>
              <a:srgbClr val="F2B134"/>
            </a:solidFill>
            <a:prstDash val="solid"/>
          </a:ln>
        </p:spPr>
      </p:sp>
      <p:sp>
        <p:nvSpPr>
          <p:cNvPr id="28" name="Prostokąt 27">
            <a:extLst>
              <a:ext uri="{FF2B5EF4-FFF2-40B4-BE49-F238E27FC236}">
                <a16:creationId xmlns:a16="http://schemas.microsoft.com/office/drawing/2014/main" id="{1AA8332E-FD89-4C02-84C7-C477937D3BCC}"/>
              </a:ext>
            </a:extLst>
          </p:cNvPr>
          <p:cNvSpPr>
            <a:spLocks noGrp="1"/>
          </p:cNvSpPr>
          <p:nvPr/>
        </p:nvSpPr>
        <p:spPr>
          <a:xfrm>
            <a:off x="6381750" y="3057525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9" name="Prostokąt 28">
            <a:extLst>
              <a:ext uri="{FF2B5EF4-FFF2-40B4-BE49-F238E27FC236}">
                <a16:creationId xmlns:a16="http://schemas.microsoft.com/office/drawing/2014/main" id="{9015E413-2C90-4C2C-B076-0E0B5038AEF1}"/>
              </a:ext>
            </a:extLst>
          </p:cNvPr>
          <p:cNvSpPr>
            <a:spLocks noGrp="1"/>
          </p:cNvSpPr>
          <p:nvPr/>
        </p:nvSpPr>
        <p:spPr>
          <a:xfrm>
            <a:off x="6381750" y="3486150"/>
            <a:ext cx="1123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Outbox worker</a:t>
            </a:r>
          </a:p>
        </p:txBody>
      </p:sp>
      <p:sp>
        <p:nvSpPr>
          <p:cNvPr id="30" name="Prostokąt 29">
            <a:extLst>
              <a:ext uri="{FF2B5EF4-FFF2-40B4-BE49-F238E27FC236}">
                <a16:creationId xmlns:a16="http://schemas.microsoft.com/office/drawing/2014/main" id="{272BA530-B5A9-4A88-B017-B894F49AFE0F}"/>
              </a:ext>
            </a:extLst>
          </p:cNvPr>
          <p:cNvSpPr>
            <a:spLocks noGrp="1"/>
          </p:cNvSpPr>
          <p:nvPr/>
        </p:nvSpPr>
        <p:spPr>
          <a:xfrm>
            <a:off x="6381750" y="3781425"/>
            <a:ext cx="11239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publikacja do RabbitMQ</a:t>
            </a:r>
          </a:p>
        </p:txBody>
      </p:sp>
      <p:sp>
        <p:nvSpPr>
          <p:cNvPr id="31" name="Prostokąt 30">
            <a:extLst>
              <a:ext uri="{FF2B5EF4-FFF2-40B4-BE49-F238E27FC236}">
                <a16:creationId xmlns:a16="http://schemas.microsoft.com/office/drawing/2014/main" id="{C524A8CB-CA7D-45EA-B35F-FEC72CE1DDA9}"/>
              </a:ext>
            </a:extLst>
          </p:cNvPr>
          <p:cNvSpPr>
            <a:spLocks noGrp="1"/>
          </p:cNvSpPr>
          <p:nvPr/>
        </p:nvSpPr>
        <p:spPr>
          <a:xfrm>
            <a:off x="7658100" y="3524250"/>
            <a:ext cx="419100" cy="19050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D5BC1E97-72B5-4073-9F3F-5DEAED8BE17E}"/>
              </a:ext>
            </a:extLst>
          </p:cNvPr>
          <p:cNvSpPr>
            <a:spLocks noGrp="1"/>
          </p:cNvSpPr>
          <p:nvPr/>
        </p:nvSpPr>
        <p:spPr>
          <a:xfrm>
            <a:off x="8077200" y="2819400"/>
            <a:ext cx="1428750" cy="1428750"/>
          </a:xfrm>
          <a:prstGeom prst="rect">
            <a:avLst/>
          </a:prstGeom>
          <a:solidFill>
            <a:srgbClr val="FFFFFF"/>
          </a:solidFill>
          <a:ln w="19050">
            <a:solidFill>
              <a:srgbClr val="6554C0"/>
            </a:solidFill>
            <a:prstDash val="solid"/>
          </a:ln>
        </p:spPr>
      </p:sp>
      <p:sp>
        <p:nvSpPr>
          <p:cNvPr id="33" name="Prostokąt 32">
            <a:extLst>
              <a:ext uri="{FF2B5EF4-FFF2-40B4-BE49-F238E27FC236}">
                <a16:creationId xmlns:a16="http://schemas.microsoft.com/office/drawing/2014/main" id="{AAE64B6A-3106-4EA2-9F1C-DDD1E10C7E71}"/>
              </a:ext>
            </a:extLst>
          </p:cNvPr>
          <p:cNvSpPr>
            <a:spLocks noGrp="1"/>
          </p:cNvSpPr>
          <p:nvPr/>
        </p:nvSpPr>
        <p:spPr>
          <a:xfrm>
            <a:off x="8229600" y="2990850"/>
            <a:ext cx="323850" cy="323850"/>
          </a:xfrm>
          <a:prstGeom prst="rect">
            <a:avLst/>
          </a:prstGeom>
          <a:solidFill>
            <a:srgbClr val="6554C0"/>
          </a:solidFill>
          <a:ln w="0">
            <a:solidFill>
              <a:srgbClr val="6554C0"/>
            </a:solidFill>
            <a:prstDash val="solid"/>
          </a:ln>
        </p:spPr>
      </p:sp>
      <p:sp>
        <p:nvSpPr>
          <p:cNvPr id="34" name="Prostokąt 33">
            <a:extLst>
              <a:ext uri="{FF2B5EF4-FFF2-40B4-BE49-F238E27FC236}">
                <a16:creationId xmlns:a16="http://schemas.microsoft.com/office/drawing/2014/main" id="{6B766706-71D6-40F9-9E28-81BA814C3BF2}"/>
              </a:ext>
            </a:extLst>
          </p:cNvPr>
          <p:cNvSpPr>
            <a:spLocks noGrp="1"/>
          </p:cNvSpPr>
          <p:nvPr/>
        </p:nvSpPr>
        <p:spPr>
          <a:xfrm>
            <a:off x="8229600" y="3057525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5" name="Prostokąt 34">
            <a:extLst>
              <a:ext uri="{FF2B5EF4-FFF2-40B4-BE49-F238E27FC236}">
                <a16:creationId xmlns:a16="http://schemas.microsoft.com/office/drawing/2014/main" id="{52C78737-31E2-4599-BFFE-E37126A87924}"/>
              </a:ext>
            </a:extLst>
          </p:cNvPr>
          <p:cNvSpPr>
            <a:spLocks noGrp="1"/>
          </p:cNvSpPr>
          <p:nvPr/>
        </p:nvSpPr>
        <p:spPr>
          <a:xfrm>
            <a:off x="8229600" y="3486150"/>
            <a:ext cx="1123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RabbitMQ</a:t>
            </a:r>
          </a:p>
        </p:txBody>
      </p:sp>
      <p:sp>
        <p:nvSpPr>
          <p:cNvPr id="36" name="Prostokąt 35">
            <a:extLst>
              <a:ext uri="{FF2B5EF4-FFF2-40B4-BE49-F238E27FC236}">
                <a16:creationId xmlns:a16="http://schemas.microsoft.com/office/drawing/2014/main" id="{F4E142C4-7BA9-4BA7-950B-DCB8A5724768}"/>
              </a:ext>
            </a:extLst>
          </p:cNvPr>
          <p:cNvSpPr>
            <a:spLocks noGrp="1"/>
          </p:cNvSpPr>
          <p:nvPr/>
        </p:nvSpPr>
        <p:spPr>
          <a:xfrm>
            <a:off x="8229600" y="3781425"/>
            <a:ext cx="11239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topic exchange</a:t>
            </a:r>
          </a:p>
        </p:txBody>
      </p:sp>
      <p:sp>
        <p:nvSpPr>
          <p:cNvPr id="37" name="Prostokąt 36">
            <a:extLst>
              <a:ext uri="{FF2B5EF4-FFF2-40B4-BE49-F238E27FC236}">
                <a16:creationId xmlns:a16="http://schemas.microsoft.com/office/drawing/2014/main" id="{13B488A5-5A64-425E-8673-B0ABF950111F}"/>
              </a:ext>
            </a:extLst>
          </p:cNvPr>
          <p:cNvSpPr>
            <a:spLocks noGrp="1"/>
          </p:cNvSpPr>
          <p:nvPr/>
        </p:nvSpPr>
        <p:spPr>
          <a:xfrm>
            <a:off x="9505950" y="3524250"/>
            <a:ext cx="419100" cy="19050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38" name="Prostokąt 37">
            <a:extLst>
              <a:ext uri="{FF2B5EF4-FFF2-40B4-BE49-F238E27FC236}">
                <a16:creationId xmlns:a16="http://schemas.microsoft.com/office/drawing/2014/main" id="{CBD0812A-3D2C-44BF-A6BD-FB844175A133}"/>
              </a:ext>
            </a:extLst>
          </p:cNvPr>
          <p:cNvSpPr>
            <a:spLocks noGrp="1"/>
          </p:cNvSpPr>
          <p:nvPr/>
        </p:nvSpPr>
        <p:spPr>
          <a:xfrm>
            <a:off x="9925050" y="2819400"/>
            <a:ext cx="1428750" cy="142875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</p:spPr>
      </p:sp>
      <p:sp>
        <p:nvSpPr>
          <p:cNvPr id="39" name="Prostokąt 38">
            <a:extLst>
              <a:ext uri="{FF2B5EF4-FFF2-40B4-BE49-F238E27FC236}">
                <a16:creationId xmlns:a16="http://schemas.microsoft.com/office/drawing/2014/main" id="{3EA7B428-9079-4B4C-B52D-E9F7E4363370}"/>
              </a:ext>
            </a:extLst>
          </p:cNvPr>
          <p:cNvSpPr>
            <a:spLocks noGrp="1"/>
          </p:cNvSpPr>
          <p:nvPr/>
        </p:nvSpPr>
        <p:spPr>
          <a:xfrm>
            <a:off x="10077450" y="2990850"/>
            <a:ext cx="323850" cy="323850"/>
          </a:xfrm>
          <a:prstGeom prst="rect">
            <a:avLst/>
          </a:prstGeom>
          <a:solidFill>
            <a:srgbClr val="E85D4A"/>
          </a:solidFill>
          <a:ln w="0">
            <a:solidFill>
              <a:srgbClr val="E85D4A"/>
            </a:solidFill>
            <a:prstDash val="solid"/>
          </a:ln>
        </p:spPr>
      </p:sp>
      <p:sp>
        <p:nvSpPr>
          <p:cNvPr id="40" name="Prostokąt 39">
            <a:extLst>
              <a:ext uri="{FF2B5EF4-FFF2-40B4-BE49-F238E27FC236}">
                <a16:creationId xmlns:a16="http://schemas.microsoft.com/office/drawing/2014/main" id="{0A2F0CF9-1C99-4718-9055-DAC3E9376319}"/>
              </a:ext>
            </a:extLst>
          </p:cNvPr>
          <p:cNvSpPr>
            <a:spLocks noGrp="1"/>
          </p:cNvSpPr>
          <p:nvPr/>
        </p:nvSpPr>
        <p:spPr>
          <a:xfrm>
            <a:off x="10077450" y="3057525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1" name="Prostokąt 40">
            <a:extLst>
              <a:ext uri="{FF2B5EF4-FFF2-40B4-BE49-F238E27FC236}">
                <a16:creationId xmlns:a16="http://schemas.microsoft.com/office/drawing/2014/main" id="{EBE6489F-4EE9-4A60-86D0-21E7FF1A0DCB}"/>
              </a:ext>
            </a:extLst>
          </p:cNvPr>
          <p:cNvSpPr>
            <a:spLocks noGrp="1"/>
          </p:cNvSpPr>
          <p:nvPr/>
        </p:nvSpPr>
        <p:spPr>
          <a:xfrm>
            <a:off x="10077450" y="3486150"/>
            <a:ext cx="1123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Consumers</a:t>
            </a:r>
          </a:p>
        </p:txBody>
      </p:sp>
      <p:sp>
        <p:nvSpPr>
          <p:cNvPr id="42" name="Prostokąt 41">
            <a:extLst>
              <a:ext uri="{FF2B5EF4-FFF2-40B4-BE49-F238E27FC236}">
                <a16:creationId xmlns:a16="http://schemas.microsoft.com/office/drawing/2014/main" id="{FD97FC36-60EA-47E7-805A-DBB89164E2C0}"/>
              </a:ext>
            </a:extLst>
          </p:cNvPr>
          <p:cNvSpPr>
            <a:spLocks noGrp="1"/>
          </p:cNvSpPr>
          <p:nvPr/>
        </p:nvSpPr>
        <p:spPr>
          <a:xfrm>
            <a:off x="10077450" y="3781425"/>
            <a:ext cx="11239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notification + audit</a:t>
            </a:r>
          </a:p>
        </p:txBody>
      </p:sp>
      <p:sp>
        <p:nvSpPr>
          <p:cNvPr id="43" name="Prostokąt 42">
            <a:extLst>
              <a:ext uri="{FF2B5EF4-FFF2-40B4-BE49-F238E27FC236}">
                <a16:creationId xmlns:a16="http://schemas.microsoft.com/office/drawing/2014/main" id="{5B09FA82-FF69-477B-A921-0BB2AEAA3DB4}"/>
              </a:ext>
            </a:extLst>
          </p:cNvPr>
          <p:cNvSpPr>
            <a:spLocks noGrp="1"/>
          </p:cNvSpPr>
          <p:nvPr/>
        </p:nvSpPr>
        <p:spPr>
          <a:xfrm>
            <a:off x="1123950" y="4724400"/>
            <a:ext cx="4095750" cy="1066800"/>
          </a:xfrm>
          <a:prstGeom prst="rect">
            <a:avLst/>
          </a:prstGeom>
          <a:solidFill>
            <a:srgbClr val="111827"/>
          </a:solidFill>
          <a:ln w="19050">
            <a:solidFill>
              <a:srgbClr val="6554C0"/>
            </a:solidFill>
            <a:prstDash val="solid"/>
          </a:ln>
        </p:spPr>
      </p:sp>
      <p:sp>
        <p:nvSpPr>
          <p:cNvPr id="44" name="Prostokąt 43">
            <a:extLst>
              <a:ext uri="{FF2B5EF4-FFF2-40B4-BE49-F238E27FC236}">
                <a16:creationId xmlns:a16="http://schemas.microsoft.com/office/drawing/2014/main" id="{AB77AAA0-0EBC-4ED7-BEC2-FB40858947E4}"/>
              </a:ext>
            </a:extLst>
          </p:cNvPr>
          <p:cNvSpPr>
            <a:spLocks noGrp="1"/>
          </p:cNvSpPr>
          <p:nvPr/>
        </p:nvSpPr>
        <p:spPr>
          <a:xfrm>
            <a:off x="1295400" y="4857750"/>
            <a:ext cx="3752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6554C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554C0"/>
                </a:solidFill>
                <a:latin typeface="Aptos"/>
                <a:ea typeface="Aptos"/>
                <a:cs typeface="Aptos"/>
              </a:rPr>
              <a:t>Routing kluczy zdarzeń</a:t>
            </a:r>
          </a:p>
        </p:txBody>
      </p:sp>
      <p:sp>
        <p:nvSpPr>
          <p:cNvPr id="45" name="Prostokąt 44">
            <a:extLst>
              <a:ext uri="{FF2B5EF4-FFF2-40B4-BE49-F238E27FC236}">
                <a16:creationId xmlns:a16="http://schemas.microsoft.com/office/drawing/2014/main" id="{567B0B5D-843F-4D21-AE3F-6F16AE666E59}"/>
              </a:ext>
            </a:extLst>
          </p:cNvPr>
          <p:cNvSpPr>
            <a:spLocks noGrp="1"/>
          </p:cNvSpPr>
          <p:nvPr/>
        </p:nvSpPr>
        <p:spPr>
          <a:xfrm>
            <a:off x="1295400" y="5105400"/>
            <a:ext cx="37528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auth.registered</a:t>
            </a:r>
          </a:p>
          <a:p>
            <a:pPr algn="l">
              <a:def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auth.logged_in</a:t>
            </a:r>
          </a:p>
          <a:p>
            <a:pPr algn="l">
              <a:def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rental.created</a:t>
            </a:r>
          </a:p>
          <a:p>
            <a:pPr algn="l">
              <a:def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rental.returned</a:t>
            </a:r>
          </a:p>
        </p:txBody>
      </p:sp>
      <p:sp>
        <p:nvSpPr>
          <p:cNvPr id="46" name="Prostokąt 45">
            <a:extLst>
              <a:ext uri="{FF2B5EF4-FFF2-40B4-BE49-F238E27FC236}">
                <a16:creationId xmlns:a16="http://schemas.microsoft.com/office/drawing/2014/main" id="{79414709-76B7-4CC0-BAA8-822F7A15A0F1}"/>
              </a:ext>
            </a:extLst>
          </p:cNvPr>
          <p:cNvSpPr>
            <a:spLocks noGrp="1"/>
          </p:cNvSpPr>
          <p:nvPr/>
        </p:nvSpPr>
        <p:spPr>
          <a:xfrm>
            <a:off x="6191250" y="4724400"/>
            <a:ext cx="4095750" cy="1066800"/>
          </a:xfrm>
          <a:prstGeom prst="rect">
            <a:avLst/>
          </a:prstGeom>
          <a:solidFill>
            <a:srgbClr val="111827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47" name="Prostokąt 46">
            <a:extLst>
              <a:ext uri="{FF2B5EF4-FFF2-40B4-BE49-F238E27FC236}">
                <a16:creationId xmlns:a16="http://schemas.microsoft.com/office/drawing/2014/main" id="{D8BF30E4-005C-49CC-BBE3-CAE972CA74A7}"/>
              </a:ext>
            </a:extLst>
          </p:cNvPr>
          <p:cNvSpPr>
            <a:spLocks noGrp="1"/>
          </p:cNvSpPr>
          <p:nvPr/>
        </p:nvSpPr>
        <p:spPr>
          <a:xfrm>
            <a:off x="6362700" y="4857750"/>
            <a:ext cx="3752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9D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9D6F"/>
                </a:solidFill>
                <a:latin typeface="Aptos"/>
                <a:ea typeface="Aptos"/>
                <a:cs typeface="Aptos"/>
              </a:rPr>
              <a:t>Consumers</a:t>
            </a:r>
          </a:p>
        </p:txBody>
      </p:sp>
      <p:sp>
        <p:nvSpPr>
          <p:cNvPr id="48" name="Prostokąt 47">
            <a:extLst>
              <a:ext uri="{FF2B5EF4-FFF2-40B4-BE49-F238E27FC236}">
                <a16:creationId xmlns:a16="http://schemas.microsoft.com/office/drawing/2014/main" id="{CC08409B-0344-4D89-8498-E6EE99E1F2B2}"/>
              </a:ext>
            </a:extLst>
          </p:cNvPr>
          <p:cNvSpPr>
            <a:spLocks noGrp="1"/>
          </p:cNvSpPr>
          <p:nvPr/>
        </p:nvSpPr>
        <p:spPr>
          <a:xfrm>
            <a:off x="6362700" y="5105400"/>
            <a:ext cx="37528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notification-service: rental.*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audit-service: #</a:t>
            </a:r>
          </a:p>
        </p:txBody>
      </p:sp>
    </p:spTree>
    <p:extLst>
      <p:ext uri="{BB962C8B-B14F-4D97-AF65-F5344CB8AC3E}">
        <p14:creationId xmlns:p14="http://schemas.microsoft.com/office/powerpoint/2010/main" val="1461521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rostokąt 27">
            <a:extLst>
              <a:ext uri="{FF2B5EF4-FFF2-40B4-BE49-F238E27FC236}">
                <a16:creationId xmlns:a16="http://schemas.microsoft.com/office/drawing/2014/main" id="{331D5D43-AAC3-4B7B-B3F5-F34A11F243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2"/>
          </a:solidFill>
          <a:ln w="0">
            <a:solidFill>
              <a:srgbClr val="F8F7F2"/>
            </a:solidFill>
            <a:prstDash val="solid"/>
          </a:ln>
        </p:spPr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B2AB8B4F-40AF-44A3-9F9E-DC340E16200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NIEZAWODNOŚĆ PUBLIKACJI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4490C877-983C-44CC-B31C-F69DF2927843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885825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Outbox pattern chroni zdarzenia przed zgubieniem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25A59806-98D3-4762-93DF-9028EB282C2C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Zdarzenie jest najpierw transakcyjnie odkładane w PostgreSQL, a dopiero potem publikowane przez worker.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15FC8C46-54B5-4396-A9A9-F3C8DD99FB59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972800" cy="14288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FC4EACD-BEAF-4E1B-A32E-B826FF44C9B6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CineRent | architektura mikroserwisowa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301BC1CC-7CCD-4511-A04F-0BAB18ABA256}"/>
              </a:ext>
            </a:extLst>
          </p:cNvPr>
          <p:cNvSpPr>
            <a:spLocks noGrp="1"/>
          </p:cNvSpPr>
          <p:nvPr/>
        </p:nvSpPr>
        <p:spPr>
          <a:xfrm>
            <a:off x="10906125" y="6486525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013B089B-BBD6-4F59-8BA7-90A02A5AD1AE}"/>
              </a:ext>
            </a:extLst>
          </p:cNvPr>
          <p:cNvSpPr>
            <a:spLocks noGrp="1"/>
          </p:cNvSpPr>
          <p:nvPr/>
        </p:nvSpPr>
        <p:spPr>
          <a:xfrm>
            <a:off x="819150" y="2619375"/>
            <a:ext cx="4000500" cy="1676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D7A33521-7244-49AD-BE82-634C864ABF47}"/>
              </a:ext>
            </a:extLst>
          </p:cNvPr>
          <p:cNvSpPr>
            <a:spLocks noGrp="1"/>
          </p:cNvSpPr>
          <p:nvPr/>
        </p:nvSpPr>
        <p:spPr>
          <a:xfrm>
            <a:off x="819150" y="2619375"/>
            <a:ext cx="76200" cy="167640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3B788F51-BA58-4EC3-A991-1B969A84E070}"/>
              </a:ext>
            </a:extLst>
          </p:cNvPr>
          <p:cNvSpPr>
            <a:spLocks noGrp="1"/>
          </p:cNvSpPr>
          <p:nvPr/>
        </p:nvSpPr>
        <p:spPr>
          <a:xfrm>
            <a:off x="1028700" y="2752725"/>
            <a:ext cx="36766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Tabela outbox_events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28A8A46D-926C-4155-BCED-3D78344A2B58}"/>
              </a:ext>
            </a:extLst>
          </p:cNvPr>
          <p:cNvSpPr>
            <a:spLocks noGrp="1"/>
          </p:cNvSpPr>
          <p:nvPr/>
        </p:nvSpPr>
        <p:spPr>
          <a:xfrm>
            <a:off x="1028700" y="3019425"/>
            <a:ext cx="3676650" cy="1200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event_id, event_type, payload JSONB,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source, status, attempts,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last_error, created_at, published_at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5948D7B6-7A1D-493E-B99A-9706B2633023}"/>
              </a:ext>
            </a:extLst>
          </p:cNvPr>
          <p:cNvSpPr>
            <a:spLocks noGrp="1"/>
          </p:cNvSpPr>
          <p:nvPr/>
        </p:nvSpPr>
        <p:spPr>
          <a:xfrm>
            <a:off x="5791200" y="2781300"/>
            <a:ext cx="2667000" cy="13335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0D76F305-4B39-4030-A113-D0AD8A979E53}"/>
              </a:ext>
            </a:extLst>
          </p:cNvPr>
          <p:cNvSpPr>
            <a:spLocks noGrp="1"/>
          </p:cNvSpPr>
          <p:nvPr/>
        </p:nvSpPr>
        <p:spPr>
          <a:xfrm>
            <a:off x="5791200" y="2781300"/>
            <a:ext cx="76200" cy="1333500"/>
          </a:xfrm>
          <a:prstGeom prst="rect">
            <a:avLst/>
          </a:prstGeom>
          <a:solidFill>
            <a:srgbClr val="F2B134"/>
          </a:solidFill>
          <a:ln w="0">
            <a:solidFill>
              <a:srgbClr val="F2B134"/>
            </a:solidFill>
            <a:prstDash val="solid"/>
          </a:ln>
        </p:spPr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9EAC00E3-F0FF-43D0-9EA5-5674ACC2FC0E}"/>
              </a:ext>
            </a:extLst>
          </p:cNvPr>
          <p:cNvSpPr>
            <a:spLocks noGrp="1"/>
          </p:cNvSpPr>
          <p:nvPr/>
        </p:nvSpPr>
        <p:spPr>
          <a:xfrm>
            <a:off x="6000750" y="2914650"/>
            <a:ext cx="23431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Worker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41129274-D24F-41F6-9D26-1A019EE67035}"/>
              </a:ext>
            </a:extLst>
          </p:cNvPr>
          <p:cNvSpPr>
            <a:spLocks noGrp="1"/>
          </p:cNvSpPr>
          <p:nvPr/>
        </p:nvSpPr>
        <p:spPr>
          <a:xfrm>
            <a:off x="6000750" y="3181350"/>
            <a:ext cx="234315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pobiera pending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FOR UPDATE SKIP LOCKED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publikuje i oznacza published</a:t>
            </a: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03AE2F2-CDDD-4442-AA02-3EAE8B944DDE}"/>
              </a:ext>
            </a:extLst>
          </p:cNvPr>
          <p:cNvSpPr>
            <a:spLocks noGrp="1"/>
          </p:cNvSpPr>
          <p:nvPr/>
        </p:nvSpPr>
        <p:spPr>
          <a:xfrm>
            <a:off x="9525000" y="2781300"/>
            <a:ext cx="1809750" cy="1333500"/>
          </a:xfrm>
          <a:prstGeom prst="rect">
            <a:avLst/>
          </a:prstGeom>
          <a:solidFill>
            <a:srgbClr val="FFFFFF"/>
          </a:solidFill>
          <a:ln w="19050">
            <a:solidFill>
              <a:srgbClr val="6554C0"/>
            </a:solidFill>
            <a:prstDash val="solid"/>
          </a:ln>
        </p:spPr>
      </p:sp>
      <p:sp>
        <p:nvSpPr>
          <p:cNvPr id="17" name="Prostokąt 16">
            <a:extLst>
              <a:ext uri="{FF2B5EF4-FFF2-40B4-BE49-F238E27FC236}">
                <a16:creationId xmlns:a16="http://schemas.microsoft.com/office/drawing/2014/main" id="{D29E6CAA-0759-450A-8EE7-CB1BD194F5E2}"/>
              </a:ext>
            </a:extLst>
          </p:cNvPr>
          <p:cNvSpPr>
            <a:spLocks noGrp="1"/>
          </p:cNvSpPr>
          <p:nvPr/>
        </p:nvSpPr>
        <p:spPr>
          <a:xfrm>
            <a:off x="9525000" y="2781300"/>
            <a:ext cx="76200" cy="1333500"/>
          </a:xfrm>
          <a:prstGeom prst="rect">
            <a:avLst/>
          </a:prstGeom>
          <a:solidFill>
            <a:srgbClr val="6554C0"/>
          </a:solidFill>
          <a:ln w="0">
            <a:solidFill>
              <a:srgbClr val="6554C0"/>
            </a:solidFill>
            <a:prstDash val="solid"/>
          </a:ln>
        </p:spPr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D62D3490-C05E-4A8A-A8A6-08F95966A233}"/>
              </a:ext>
            </a:extLst>
          </p:cNvPr>
          <p:cNvSpPr>
            <a:spLocks noGrp="1"/>
          </p:cNvSpPr>
          <p:nvPr/>
        </p:nvSpPr>
        <p:spPr>
          <a:xfrm>
            <a:off x="9734550" y="2914650"/>
            <a:ext cx="14859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RabbitMQ</a:t>
            </a:r>
          </a:p>
        </p:txBody>
      </p:sp>
      <p:sp>
        <p:nvSpPr>
          <p:cNvPr id="19" name="Prostokąt 18">
            <a:extLst>
              <a:ext uri="{FF2B5EF4-FFF2-40B4-BE49-F238E27FC236}">
                <a16:creationId xmlns:a16="http://schemas.microsoft.com/office/drawing/2014/main" id="{D608A2A9-0E58-48CE-9C9D-324257EB4CA6}"/>
              </a:ext>
            </a:extLst>
          </p:cNvPr>
          <p:cNvSpPr>
            <a:spLocks noGrp="1"/>
          </p:cNvSpPr>
          <p:nvPr/>
        </p:nvSpPr>
        <p:spPr>
          <a:xfrm>
            <a:off x="9734550" y="3181350"/>
            <a:ext cx="14859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durable topic exchange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routing key = event_type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EF7D5933-4472-4E69-B779-01ADE62BA7F8}"/>
              </a:ext>
            </a:extLst>
          </p:cNvPr>
          <p:cNvSpPr>
            <a:spLocks noGrp="1"/>
          </p:cNvSpPr>
          <p:nvPr/>
        </p:nvSpPr>
        <p:spPr>
          <a:xfrm>
            <a:off x="4819650" y="3419475"/>
            <a:ext cx="971550" cy="19050"/>
          </a:xfrm>
          <a:prstGeom prst="rect">
            <a:avLst/>
          </a:prstGeom>
          <a:solidFill>
            <a:srgbClr val="F2B134"/>
          </a:solidFill>
          <a:ln w="0">
            <a:solidFill>
              <a:srgbClr val="F2B134"/>
            </a:solidFill>
            <a:prstDash val="solid"/>
          </a:ln>
        </p:spPr>
      </p:sp>
      <p:sp>
        <p:nvSpPr>
          <p:cNvPr id="21" name="Prostokąt 20">
            <a:extLst>
              <a:ext uri="{FF2B5EF4-FFF2-40B4-BE49-F238E27FC236}">
                <a16:creationId xmlns:a16="http://schemas.microsoft.com/office/drawing/2014/main" id="{BC7CFA1D-6C46-4D16-9D47-9A466952671B}"/>
              </a:ext>
            </a:extLst>
          </p:cNvPr>
          <p:cNvSpPr>
            <a:spLocks noGrp="1"/>
          </p:cNvSpPr>
          <p:nvPr/>
        </p:nvSpPr>
        <p:spPr>
          <a:xfrm>
            <a:off x="8458200" y="3419475"/>
            <a:ext cx="1066800" cy="19050"/>
          </a:xfrm>
          <a:prstGeom prst="rect">
            <a:avLst/>
          </a:prstGeom>
          <a:solidFill>
            <a:srgbClr val="6554C0"/>
          </a:solidFill>
          <a:ln w="0">
            <a:solidFill>
              <a:srgbClr val="6554C0"/>
            </a:solidFill>
            <a:prstDash val="solid"/>
          </a:ln>
        </p:spPr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6954A6F9-7679-4DEB-8D73-5051723292A6}"/>
              </a:ext>
            </a:extLst>
          </p:cNvPr>
          <p:cNvSpPr>
            <a:spLocks noGrp="1"/>
          </p:cNvSpPr>
          <p:nvPr/>
        </p:nvSpPr>
        <p:spPr>
          <a:xfrm>
            <a:off x="1714500" y="4629150"/>
            <a:ext cx="3943350" cy="1104900"/>
          </a:xfrm>
          <a:prstGeom prst="rect">
            <a:avLst/>
          </a:prstGeom>
          <a:solidFill>
            <a:srgbClr val="111827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DF4EB3D0-AADE-428D-A462-1DF2EDEB2097}"/>
              </a:ext>
            </a:extLst>
          </p:cNvPr>
          <p:cNvSpPr>
            <a:spLocks noGrp="1"/>
          </p:cNvSpPr>
          <p:nvPr/>
        </p:nvSpPr>
        <p:spPr>
          <a:xfrm>
            <a:off x="1885950" y="4762500"/>
            <a:ext cx="3600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9D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9D6F"/>
                </a:solidFill>
                <a:latin typeface="Aptos"/>
                <a:ea typeface="Aptos"/>
                <a:cs typeface="Aptos"/>
              </a:rPr>
              <a:t>Wynik sprawdzenia w bazie</a:t>
            </a:r>
          </a:p>
        </p:txBody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FCC5BC16-5C61-4374-90D8-561132999D62}"/>
              </a:ext>
            </a:extLst>
          </p:cNvPr>
          <p:cNvSpPr>
            <a:spLocks noGrp="1"/>
          </p:cNvSpPr>
          <p:nvPr/>
        </p:nvSpPr>
        <p:spPr>
          <a:xfrm>
            <a:off x="1885950" y="5010150"/>
            <a:ext cx="36004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event_type      status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rental.created  published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auth.logged_in  published</a:t>
            </a:r>
          </a:p>
        </p:txBody>
      </p:sp>
      <p:sp>
        <p:nvSpPr>
          <p:cNvPr id="25" name="Prostokąt 24">
            <a:extLst>
              <a:ext uri="{FF2B5EF4-FFF2-40B4-BE49-F238E27FC236}">
                <a16:creationId xmlns:a16="http://schemas.microsoft.com/office/drawing/2014/main" id="{45C6C76C-F688-4BA8-9732-6D29E83AE4D0}"/>
              </a:ext>
            </a:extLst>
          </p:cNvPr>
          <p:cNvSpPr>
            <a:spLocks noGrp="1"/>
          </p:cNvSpPr>
          <p:nvPr/>
        </p:nvSpPr>
        <p:spPr>
          <a:xfrm>
            <a:off x="6515100" y="4629150"/>
            <a:ext cx="3943350" cy="1104900"/>
          </a:xfrm>
          <a:prstGeom prst="rect">
            <a:avLst/>
          </a:prstGeom>
          <a:solidFill>
            <a:srgbClr val="111827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26" name="Prostokąt 25">
            <a:extLst>
              <a:ext uri="{FF2B5EF4-FFF2-40B4-BE49-F238E27FC236}">
                <a16:creationId xmlns:a16="http://schemas.microsoft.com/office/drawing/2014/main" id="{01CEFA8E-9903-41EA-B100-3C53AE379557}"/>
              </a:ext>
            </a:extLst>
          </p:cNvPr>
          <p:cNvSpPr>
            <a:spLocks noGrp="1"/>
          </p:cNvSpPr>
          <p:nvPr/>
        </p:nvSpPr>
        <p:spPr>
          <a:xfrm>
            <a:off x="6686550" y="4762500"/>
            <a:ext cx="3600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Co to daje</a:t>
            </a:r>
          </a:p>
        </p:txBody>
      </p:sp>
      <p:sp>
        <p:nvSpPr>
          <p:cNvPr id="27" name="Prostokąt 26">
            <a:extLst>
              <a:ext uri="{FF2B5EF4-FFF2-40B4-BE49-F238E27FC236}">
                <a16:creationId xmlns:a16="http://schemas.microsoft.com/office/drawing/2014/main" id="{34ACFA4C-9461-4E85-8530-49769CBE75D2}"/>
              </a:ext>
            </a:extLst>
          </p:cNvPr>
          <p:cNvSpPr>
            <a:spLocks noGrp="1"/>
          </p:cNvSpPr>
          <p:nvPr/>
        </p:nvSpPr>
        <p:spPr>
          <a:xfrm>
            <a:off x="6686550" y="5010150"/>
            <a:ext cx="36004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backend nie musi znać konsumentów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retry jest możliwy przez attempts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PostgreSQL zostaje źródłem prawdy</a:t>
            </a:r>
          </a:p>
        </p:txBody>
      </p:sp>
    </p:spTree>
    <p:extLst>
      <p:ext uri="{BB962C8B-B14F-4D97-AF65-F5344CB8AC3E}">
        <p14:creationId xmlns:p14="http://schemas.microsoft.com/office/powerpoint/2010/main" val="795968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rostokąt 25">
            <a:extLst>
              <a:ext uri="{FF2B5EF4-FFF2-40B4-BE49-F238E27FC236}">
                <a16:creationId xmlns:a16="http://schemas.microsoft.com/office/drawing/2014/main" id="{11713F9E-4ADF-4034-A0A6-A130D4D834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2"/>
          </a:solidFill>
          <a:ln w="0">
            <a:solidFill>
              <a:srgbClr val="F8F7F2"/>
            </a:solidFill>
            <a:prstDash val="solid"/>
          </a:ln>
        </p:spPr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123E2AF3-FFBC-43D8-8015-D8DB990FA5C8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NOTIFICATION-SERVICE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81EE62B4-88E2-40AF-AC1E-FF6129160B7E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885825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Pierwszy dopięty mikroserwis reaguje na wypożyczenia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A8574E18-E412-4926-9E10-84501FD4A517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Usługa słucha RabbitMQ i obsługuje zdarzenia rental.* bez wołania backendu synchronicznie.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8EFEB6AF-B45A-4BC1-ABE6-A2AB50579B1D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972800" cy="14288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140E9B13-0BA5-4AAA-AF0A-5A3E66DE5DBA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CineRent | architektura mikroserwisowa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471D8BE-5808-4DCC-BDCF-D5B14014CEAE}"/>
              </a:ext>
            </a:extLst>
          </p:cNvPr>
          <p:cNvSpPr>
            <a:spLocks noGrp="1"/>
          </p:cNvSpPr>
          <p:nvPr/>
        </p:nvSpPr>
        <p:spPr>
          <a:xfrm>
            <a:off x="10906125" y="6486525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8" name="Grafika 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76300" y="2686050"/>
            <a:ext cx="400050" cy="400050"/>
          </a:xfrm>
          <a:prstGeom prst="rect">
            <a:avLst/>
          </a:prstGeom>
        </p:spPr>
      </p:pic>
      <p:sp>
        <p:nvSpPr>
          <p:cNvPr id="9" name="Prostokąt 8">
            <a:extLst>
              <a:ext uri="{FF2B5EF4-FFF2-40B4-BE49-F238E27FC236}">
                <a16:creationId xmlns:a16="http://schemas.microsoft.com/office/drawing/2014/main" id="{0AF93E81-F0D3-4A3F-9EC3-F9447B62932F}"/>
              </a:ext>
            </a:extLst>
          </p:cNvPr>
          <p:cNvSpPr>
            <a:spLocks noGrp="1"/>
          </p:cNvSpPr>
          <p:nvPr/>
        </p:nvSpPr>
        <p:spPr>
          <a:xfrm>
            <a:off x="1504950" y="2514600"/>
            <a:ext cx="314325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FDB"/>
            </a:solidFill>
            <a:prstDash val="solid"/>
          </a:ln>
        </p:spPr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4E2E1141-6BEB-4498-A62D-EA3314B4AF8C}"/>
              </a:ext>
            </a:extLst>
          </p:cNvPr>
          <p:cNvSpPr>
            <a:spLocks noGrp="1"/>
          </p:cNvSpPr>
          <p:nvPr/>
        </p:nvSpPr>
        <p:spPr>
          <a:xfrm>
            <a:off x="1504950" y="2514600"/>
            <a:ext cx="76200" cy="1143000"/>
          </a:xfrm>
          <a:prstGeom prst="rect">
            <a:avLst/>
          </a:prstGeom>
          <a:solidFill>
            <a:srgbClr val="2F6FDB"/>
          </a:solidFill>
          <a:ln w="0">
            <a:solidFill>
              <a:srgbClr val="2F6FDB"/>
            </a:solidFill>
            <a:prstDash val="solid"/>
          </a:ln>
        </p:spPr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CA9197DA-9A75-418E-A508-F9E062F456AB}"/>
              </a:ext>
            </a:extLst>
          </p:cNvPr>
          <p:cNvSpPr>
            <a:spLocks noGrp="1"/>
          </p:cNvSpPr>
          <p:nvPr/>
        </p:nvSpPr>
        <p:spPr>
          <a:xfrm>
            <a:off x="1714500" y="2647950"/>
            <a:ext cx="28194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Kolejka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9AF96CFA-8119-443D-8D1E-DCE779E7DFED}"/>
              </a:ext>
            </a:extLst>
          </p:cNvPr>
          <p:cNvSpPr>
            <a:spLocks noGrp="1"/>
          </p:cNvSpPr>
          <p:nvPr/>
        </p:nvSpPr>
        <p:spPr>
          <a:xfrm>
            <a:off x="1714500" y="2914650"/>
            <a:ext cx="28194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queue: notification-service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routing_key: rental.*</a:t>
            </a: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6ECDF885-FAEF-4B21-BA04-D465791CB273}"/>
              </a:ext>
            </a:extLst>
          </p:cNvPr>
          <p:cNvSpPr>
            <a:spLocks noGrp="1"/>
          </p:cNvSpPr>
          <p:nvPr/>
        </p:nvSpPr>
        <p:spPr>
          <a:xfrm>
            <a:off x="5219700" y="2514600"/>
            <a:ext cx="314325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016283C1-C0A1-4C49-A17D-79DC8659CE24}"/>
              </a:ext>
            </a:extLst>
          </p:cNvPr>
          <p:cNvSpPr>
            <a:spLocks noGrp="1"/>
          </p:cNvSpPr>
          <p:nvPr/>
        </p:nvSpPr>
        <p:spPr>
          <a:xfrm>
            <a:off x="5219700" y="2514600"/>
            <a:ext cx="76200" cy="1143000"/>
          </a:xfrm>
          <a:prstGeom prst="rect">
            <a:avLst/>
          </a:prstGeom>
          <a:solidFill>
            <a:srgbClr val="0E7C7B"/>
          </a:solidFill>
          <a:ln w="0">
            <a:solidFill>
              <a:srgbClr val="0E7C7B"/>
            </a:solidFill>
            <a:prstDash val="solid"/>
          </a:ln>
        </p:spPr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6E565B11-0749-4B8E-A890-53518AD2A6CB}"/>
              </a:ext>
            </a:extLst>
          </p:cNvPr>
          <p:cNvSpPr>
            <a:spLocks noGrp="1"/>
          </p:cNvSpPr>
          <p:nvPr/>
        </p:nvSpPr>
        <p:spPr>
          <a:xfrm>
            <a:off x="5429250" y="2647950"/>
            <a:ext cx="28194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Logika</a:t>
            </a: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73DD5BF0-A66E-4CC8-81CC-2F84BFAA4638}"/>
              </a:ext>
            </a:extLst>
          </p:cNvPr>
          <p:cNvSpPr>
            <a:spLocks noGrp="1"/>
          </p:cNvSpPr>
          <p:nvPr/>
        </p:nvSpPr>
        <p:spPr>
          <a:xfrm>
            <a:off x="5429250" y="2914650"/>
            <a:ext cx="28194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odczyt typu zdarzenia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wyciągnięcie user_id, tytułu i terminu</a:t>
            </a:r>
          </a:p>
        </p:txBody>
      </p:sp>
      <p:sp>
        <p:nvSpPr>
          <p:cNvPr id="17" name="Prostokąt 16">
            <a:extLst>
              <a:ext uri="{FF2B5EF4-FFF2-40B4-BE49-F238E27FC236}">
                <a16:creationId xmlns:a16="http://schemas.microsoft.com/office/drawing/2014/main" id="{44DA7F6D-B0EE-4B67-AE81-8667149A34EB}"/>
              </a:ext>
            </a:extLst>
          </p:cNvPr>
          <p:cNvSpPr>
            <a:spLocks noGrp="1"/>
          </p:cNvSpPr>
          <p:nvPr/>
        </p:nvSpPr>
        <p:spPr>
          <a:xfrm>
            <a:off x="8934450" y="2514600"/>
            <a:ext cx="22860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935AA956-A8B4-4250-BF5C-B7F71731D84F}"/>
              </a:ext>
            </a:extLst>
          </p:cNvPr>
          <p:cNvSpPr>
            <a:spLocks noGrp="1"/>
          </p:cNvSpPr>
          <p:nvPr/>
        </p:nvSpPr>
        <p:spPr>
          <a:xfrm>
            <a:off x="8934450" y="2514600"/>
            <a:ext cx="76200" cy="114300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19" name="Prostokąt 18">
            <a:extLst>
              <a:ext uri="{FF2B5EF4-FFF2-40B4-BE49-F238E27FC236}">
                <a16:creationId xmlns:a16="http://schemas.microsoft.com/office/drawing/2014/main" id="{FE56C73D-9876-4005-BB37-DDF73A53F6EE}"/>
              </a:ext>
            </a:extLst>
          </p:cNvPr>
          <p:cNvSpPr>
            <a:spLocks noGrp="1"/>
          </p:cNvSpPr>
          <p:nvPr/>
        </p:nvSpPr>
        <p:spPr>
          <a:xfrm>
            <a:off x="9144000" y="2647950"/>
            <a:ext cx="19621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Efekt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2D5BF64C-D6C0-414E-8FB0-77D71F1B9E67}"/>
              </a:ext>
            </a:extLst>
          </p:cNvPr>
          <p:cNvSpPr>
            <a:spLocks noGrp="1"/>
          </p:cNvSpPr>
          <p:nvPr/>
        </p:nvSpPr>
        <p:spPr>
          <a:xfrm>
            <a:off x="9144000" y="2914650"/>
            <a:ext cx="19621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komunikat powiadomienia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widoczny w logach kontenera</a:t>
            </a:r>
          </a:p>
        </p:txBody>
      </p:sp>
      <p:sp>
        <p:nvSpPr>
          <p:cNvPr id="21" name="Prostokąt 20">
            <a:extLst>
              <a:ext uri="{FF2B5EF4-FFF2-40B4-BE49-F238E27FC236}">
                <a16:creationId xmlns:a16="http://schemas.microsoft.com/office/drawing/2014/main" id="{A0C75169-AD2B-4901-AF78-FF72CB92A09B}"/>
              </a:ext>
            </a:extLst>
          </p:cNvPr>
          <p:cNvSpPr>
            <a:spLocks noGrp="1"/>
          </p:cNvSpPr>
          <p:nvPr/>
        </p:nvSpPr>
        <p:spPr>
          <a:xfrm>
            <a:off x="4648200" y="3076575"/>
            <a:ext cx="571500" cy="19050"/>
          </a:xfrm>
          <a:prstGeom prst="rect">
            <a:avLst/>
          </a:prstGeom>
          <a:solidFill>
            <a:srgbClr val="0E7C7B"/>
          </a:solidFill>
          <a:ln w="0">
            <a:solidFill>
              <a:srgbClr val="0E7C7B"/>
            </a:solidFill>
            <a:prstDash val="solid"/>
          </a:ln>
        </p:spPr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59B5C296-9AAA-4CA2-8148-59ACF6AE57BC}"/>
              </a:ext>
            </a:extLst>
          </p:cNvPr>
          <p:cNvSpPr>
            <a:spLocks noGrp="1"/>
          </p:cNvSpPr>
          <p:nvPr/>
        </p:nvSpPr>
        <p:spPr>
          <a:xfrm>
            <a:off x="8362950" y="3076575"/>
            <a:ext cx="571500" cy="1905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6FECFCA9-4D2D-4688-AEE1-5F1F81DD2388}"/>
              </a:ext>
            </a:extLst>
          </p:cNvPr>
          <p:cNvSpPr>
            <a:spLocks noGrp="1"/>
          </p:cNvSpPr>
          <p:nvPr/>
        </p:nvSpPr>
        <p:spPr>
          <a:xfrm>
            <a:off x="1504950" y="4324350"/>
            <a:ext cx="8096250" cy="1066800"/>
          </a:xfrm>
          <a:prstGeom prst="rect">
            <a:avLst/>
          </a:prstGeom>
          <a:solidFill>
            <a:srgbClr val="111827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FD5E6614-6490-42CA-A78A-9197BF59CC9D}"/>
              </a:ext>
            </a:extLst>
          </p:cNvPr>
          <p:cNvSpPr>
            <a:spLocks noGrp="1"/>
          </p:cNvSpPr>
          <p:nvPr/>
        </p:nvSpPr>
        <p:spPr>
          <a:xfrm>
            <a:off x="1676400" y="4457700"/>
            <a:ext cx="7753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9D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9D6F"/>
                </a:solidFill>
                <a:latin typeface="Aptos"/>
                <a:ea typeface="Aptos"/>
                <a:cs typeface="Aptos"/>
              </a:rPr>
              <a:t>Potwierdzenie z logów</a:t>
            </a:r>
          </a:p>
        </p:txBody>
      </p:sp>
      <p:sp>
        <p:nvSpPr>
          <p:cNvPr id="25" name="Prostokąt 24">
            <a:extLst>
              <a:ext uri="{FF2B5EF4-FFF2-40B4-BE49-F238E27FC236}">
                <a16:creationId xmlns:a16="http://schemas.microsoft.com/office/drawing/2014/main" id="{1657783D-8B94-457C-A194-551E63653C89}"/>
              </a:ext>
            </a:extLst>
          </p:cNvPr>
          <p:cNvSpPr>
            <a:spLocks noGrp="1"/>
          </p:cNvSpPr>
          <p:nvPr/>
        </p:nvSpPr>
        <p:spPr>
          <a:xfrm>
            <a:off x="1676400" y="4705350"/>
            <a:ext cx="77533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rental.created -&gt; 127 Godzin | termin: 2026-06-05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rental.created -&gt; 2012 | termin: 2026-06-05</a:t>
            </a:r>
          </a:p>
        </p:txBody>
      </p:sp>
    </p:spTree>
    <p:extLst>
      <p:ext uri="{BB962C8B-B14F-4D97-AF65-F5344CB8AC3E}">
        <p14:creationId xmlns:p14="http://schemas.microsoft.com/office/powerpoint/2010/main" val="1095539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rostokąt 27">
            <a:extLst>
              <a:ext uri="{FF2B5EF4-FFF2-40B4-BE49-F238E27FC236}">
                <a16:creationId xmlns:a16="http://schemas.microsoft.com/office/drawing/2014/main" id="{E4D7B5FD-EB17-4171-BA2D-F758DDF917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2"/>
          </a:solidFill>
          <a:ln w="0">
            <a:solidFill>
              <a:srgbClr val="F8F7F2"/>
            </a:solidFill>
            <a:prstDash val="solid"/>
          </a:ln>
        </p:spPr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F01AA108-036C-4E1B-9473-7457C46CF98F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AUDIT-SERVICE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3509573F-E1C1-4E9B-86E7-BA7496BB29D1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885825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Każde ważne zdarzenie może trafić do śladu audytowego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F15ACA8E-4AF7-41FB-8BCA-E3F6317E58D2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Audit-service subskrybuje wszystkie zdarzenia z exchange i zapisuje je w PostgreSQL.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09CFA9E5-6BD8-4588-8B2C-E99AB8B82E92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972800" cy="14288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168D05F0-1A69-420B-B0DF-71282272B469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CineRent | architektura mikroserwisowa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FAA52917-766D-40DD-AEAF-57F55BD17B88}"/>
              </a:ext>
            </a:extLst>
          </p:cNvPr>
          <p:cNvSpPr>
            <a:spLocks noGrp="1"/>
          </p:cNvSpPr>
          <p:nvPr/>
        </p:nvSpPr>
        <p:spPr>
          <a:xfrm>
            <a:off x="10906125" y="6486525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CD62D953-DFB0-428F-A3F4-26DE4F83B266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2476500" cy="1104900"/>
          </a:xfrm>
          <a:prstGeom prst="rect">
            <a:avLst/>
          </a:prstGeom>
          <a:solidFill>
            <a:srgbClr val="FFFFFF"/>
          </a:solidFill>
          <a:ln w="19050">
            <a:solidFill>
              <a:srgbClr val="6554C0"/>
            </a:solidFill>
            <a:prstDash val="solid"/>
          </a:ln>
        </p:spPr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9779DEEB-E88B-42F5-8D1C-4DCDB1C8E2FB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76200" cy="1104900"/>
          </a:xfrm>
          <a:prstGeom prst="rect">
            <a:avLst/>
          </a:prstGeom>
          <a:solidFill>
            <a:srgbClr val="6554C0"/>
          </a:solidFill>
          <a:ln w="0">
            <a:solidFill>
              <a:srgbClr val="6554C0"/>
            </a:solidFill>
            <a:prstDash val="solid"/>
          </a:ln>
        </p:spPr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1B0297AE-3285-4A9E-944A-635F9522F01E}"/>
              </a:ext>
            </a:extLst>
          </p:cNvPr>
          <p:cNvSpPr>
            <a:spLocks noGrp="1"/>
          </p:cNvSpPr>
          <p:nvPr/>
        </p:nvSpPr>
        <p:spPr>
          <a:xfrm>
            <a:off x="1085850" y="2857500"/>
            <a:ext cx="21526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RabbitMQ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D64CF7DB-C35C-4D52-ACE0-E06FEA0C46E7}"/>
              </a:ext>
            </a:extLst>
          </p:cNvPr>
          <p:cNvSpPr>
            <a:spLocks noGrp="1"/>
          </p:cNvSpPr>
          <p:nvPr/>
        </p:nvSpPr>
        <p:spPr>
          <a:xfrm>
            <a:off x="1085850" y="3124200"/>
            <a:ext cx="21526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exchange: cinerent.events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routing_key: #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8C0EEF36-4264-4570-97DC-5716B0842B82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667000" cy="11049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</p:spPr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B034DC24-1554-4857-B912-A5AB778758EE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76200" cy="1104900"/>
          </a:xfrm>
          <a:prstGeom prst="rect">
            <a:avLst/>
          </a:prstGeom>
          <a:solidFill>
            <a:srgbClr val="E85D4A"/>
          </a:solidFill>
          <a:ln w="0">
            <a:solidFill>
              <a:srgbClr val="E85D4A"/>
            </a:solidFill>
            <a:prstDash val="solid"/>
          </a:ln>
        </p:spPr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30C77B5B-45BF-40E2-88F2-40F79BC656A4}"/>
              </a:ext>
            </a:extLst>
          </p:cNvPr>
          <p:cNvSpPr>
            <a:spLocks noGrp="1"/>
          </p:cNvSpPr>
          <p:nvPr/>
        </p:nvSpPr>
        <p:spPr>
          <a:xfrm>
            <a:off x="4724400" y="2857500"/>
            <a:ext cx="23431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audit-service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B25EE94-39CE-46B3-A034-7A6837D1E69C}"/>
              </a:ext>
            </a:extLst>
          </p:cNvPr>
          <p:cNvSpPr>
            <a:spLocks noGrp="1"/>
          </p:cNvSpPr>
          <p:nvPr/>
        </p:nvSpPr>
        <p:spPr>
          <a:xfrm>
            <a:off x="4724400" y="3124200"/>
            <a:ext cx="23431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konsument zdarzeń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normalizacja payloadu</a:t>
            </a: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789951BE-D0F2-4FD7-A895-B4B359547217}"/>
              </a:ext>
            </a:extLst>
          </p:cNvPr>
          <p:cNvSpPr>
            <a:spLocks noGrp="1"/>
          </p:cNvSpPr>
          <p:nvPr/>
        </p:nvSpPr>
        <p:spPr>
          <a:xfrm>
            <a:off x="8343900" y="2724150"/>
            <a:ext cx="2476500" cy="11049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17" name="Prostokąt 16">
            <a:extLst>
              <a:ext uri="{FF2B5EF4-FFF2-40B4-BE49-F238E27FC236}">
                <a16:creationId xmlns:a16="http://schemas.microsoft.com/office/drawing/2014/main" id="{9C2CB846-0C77-4A00-A607-E7F5F1584290}"/>
              </a:ext>
            </a:extLst>
          </p:cNvPr>
          <p:cNvSpPr>
            <a:spLocks noGrp="1"/>
          </p:cNvSpPr>
          <p:nvPr/>
        </p:nvSpPr>
        <p:spPr>
          <a:xfrm>
            <a:off x="8343900" y="2724150"/>
            <a:ext cx="76200" cy="110490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B07C7AC3-70F4-45BA-B699-0DE5707DAF4D}"/>
              </a:ext>
            </a:extLst>
          </p:cNvPr>
          <p:cNvSpPr>
            <a:spLocks noGrp="1"/>
          </p:cNvSpPr>
          <p:nvPr/>
        </p:nvSpPr>
        <p:spPr>
          <a:xfrm>
            <a:off x="8553450" y="2857500"/>
            <a:ext cx="21526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19" name="Prostokąt 18">
            <a:extLst>
              <a:ext uri="{FF2B5EF4-FFF2-40B4-BE49-F238E27FC236}">
                <a16:creationId xmlns:a16="http://schemas.microsoft.com/office/drawing/2014/main" id="{077E50B6-54BE-4EC9-AA98-D694CD1ED600}"/>
              </a:ext>
            </a:extLst>
          </p:cNvPr>
          <p:cNvSpPr>
            <a:spLocks noGrp="1"/>
          </p:cNvSpPr>
          <p:nvPr/>
        </p:nvSpPr>
        <p:spPr>
          <a:xfrm>
            <a:off x="8553450" y="3124200"/>
            <a:ext cx="21526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audit_events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received_at + event_type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5F78E931-CC64-451F-BE9C-0DDEF7317A3D}"/>
              </a:ext>
            </a:extLst>
          </p:cNvPr>
          <p:cNvSpPr>
            <a:spLocks noGrp="1"/>
          </p:cNvSpPr>
          <p:nvPr/>
        </p:nvSpPr>
        <p:spPr>
          <a:xfrm>
            <a:off x="3352800" y="3267075"/>
            <a:ext cx="1162050" cy="19050"/>
          </a:xfrm>
          <a:prstGeom prst="rect">
            <a:avLst/>
          </a:prstGeom>
          <a:solidFill>
            <a:srgbClr val="E85D4A"/>
          </a:solidFill>
          <a:ln w="0">
            <a:solidFill>
              <a:srgbClr val="E85D4A"/>
            </a:solidFill>
            <a:prstDash val="solid"/>
          </a:ln>
        </p:spPr>
      </p:sp>
      <p:sp>
        <p:nvSpPr>
          <p:cNvPr id="21" name="Prostokąt 20">
            <a:extLst>
              <a:ext uri="{FF2B5EF4-FFF2-40B4-BE49-F238E27FC236}">
                <a16:creationId xmlns:a16="http://schemas.microsoft.com/office/drawing/2014/main" id="{E538D881-EF97-4E3B-BC45-A5015D04CF17}"/>
              </a:ext>
            </a:extLst>
          </p:cNvPr>
          <p:cNvSpPr>
            <a:spLocks noGrp="1"/>
          </p:cNvSpPr>
          <p:nvPr/>
        </p:nvSpPr>
        <p:spPr>
          <a:xfrm>
            <a:off x="7181850" y="3267075"/>
            <a:ext cx="1162050" cy="19050"/>
          </a:xfrm>
          <a:prstGeom prst="rect">
            <a:avLst/>
          </a:prstGeom>
          <a:solidFill>
            <a:srgbClr val="2E9D6F"/>
          </a:solidFill>
          <a:ln w="0">
            <a:solidFill>
              <a:srgbClr val="2E9D6F"/>
            </a:solidFill>
            <a:prstDash val="solid"/>
          </a:ln>
        </p:spPr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67D5445E-533D-44CE-AB91-C004AC224BF8}"/>
              </a:ext>
            </a:extLst>
          </p:cNvPr>
          <p:cNvSpPr>
            <a:spLocks noGrp="1"/>
          </p:cNvSpPr>
          <p:nvPr/>
        </p:nvSpPr>
        <p:spPr>
          <a:xfrm>
            <a:off x="1066800" y="4533900"/>
            <a:ext cx="4476750" cy="1066800"/>
          </a:xfrm>
          <a:prstGeom prst="rect">
            <a:avLst/>
          </a:prstGeom>
          <a:solidFill>
            <a:srgbClr val="111827"/>
          </a:solidFill>
          <a:ln w="19050">
            <a:solidFill>
              <a:srgbClr val="6554C0"/>
            </a:solidFill>
            <a:prstDash val="solid"/>
          </a:ln>
        </p:spPr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88FD0649-D358-49BC-BF08-F6A9AA0D1EEB}"/>
              </a:ext>
            </a:extLst>
          </p:cNvPr>
          <p:cNvSpPr>
            <a:spLocks noGrp="1"/>
          </p:cNvSpPr>
          <p:nvPr/>
        </p:nvSpPr>
        <p:spPr>
          <a:xfrm>
            <a:off x="1238250" y="4667250"/>
            <a:ext cx="413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6554C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554C0"/>
                </a:solidFill>
                <a:latin typeface="Aptos"/>
                <a:ea typeface="Aptos"/>
                <a:cs typeface="Aptos"/>
              </a:rPr>
              <a:t>Zapytanie kontrolne</a:t>
            </a:r>
          </a:p>
        </p:txBody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4B6D25AE-1D8F-4167-A48E-2BC03CB049F9}"/>
              </a:ext>
            </a:extLst>
          </p:cNvPr>
          <p:cNvSpPr>
            <a:spLocks noGrp="1"/>
          </p:cNvSpPr>
          <p:nvPr/>
        </p:nvSpPr>
        <p:spPr>
          <a:xfrm>
            <a:off x="1238250" y="4914900"/>
            <a:ext cx="41338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select event_type, received_at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from audit_events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order by received_at desc limit 10;</a:t>
            </a:r>
          </a:p>
        </p:txBody>
      </p:sp>
      <p:sp>
        <p:nvSpPr>
          <p:cNvPr id="25" name="Prostokąt 24">
            <a:extLst>
              <a:ext uri="{FF2B5EF4-FFF2-40B4-BE49-F238E27FC236}">
                <a16:creationId xmlns:a16="http://schemas.microsoft.com/office/drawing/2014/main" id="{0F85CC76-8F92-4CE5-B293-5C3399DC5DE9}"/>
              </a:ext>
            </a:extLst>
          </p:cNvPr>
          <p:cNvSpPr>
            <a:spLocks noGrp="1"/>
          </p:cNvSpPr>
          <p:nvPr/>
        </p:nvSpPr>
        <p:spPr>
          <a:xfrm>
            <a:off x="6438900" y="4533900"/>
            <a:ext cx="4476750" cy="1066800"/>
          </a:xfrm>
          <a:prstGeom prst="rect">
            <a:avLst/>
          </a:prstGeom>
          <a:solidFill>
            <a:srgbClr val="111827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26" name="Prostokąt 25">
            <a:extLst>
              <a:ext uri="{FF2B5EF4-FFF2-40B4-BE49-F238E27FC236}">
                <a16:creationId xmlns:a16="http://schemas.microsoft.com/office/drawing/2014/main" id="{F27D898B-34F5-4C51-97C7-48999644341D}"/>
              </a:ext>
            </a:extLst>
          </p:cNvPr>
          <p:cNvSpPr>
            <a:spLocks noGrp="1"/>
          </p:cNvSpPr>
          <p:nvPr/>
        </p:nvSpPr>
        <p:spPr>
          <a:xfrm>
            <a:off x="6610350" y="4667250"/>
            <a:ext cx="413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9D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9D6F"/>
                </a:solidFill>
                <a:latin typeface="Aptos"/>
                <a:ea typeface="Aptos"/>
                <a:cs typeface="Aptos"/>
              </a:rPr>
              <a:t>Wynik</a:t>
            </a:r>
          </a:p>
        </p:txBody>
      </p:sp>
      <p:sp>
        <p:nvSpPr>
          <p:cNvPr id="27" name="Prostokąt 26">
            <a:extLst>
              <a:ext uri="{FF2B5EF4-FFF2-40B4-BE49-F238E27FC236}">
                <a16:creationId xmlns:a16="http://schemas.microsoft.com/office/drawing/2014/main" id="{2374B201-2B84-40FE-9D31-C6EA2B706621}"/>
              </a:ext>
            </a:extLst>
          </p:cNvPr>
          <p:cNvSpPr>
            <a:spLocks noGrp="1"/>
          </p:cNvSpPr>
          <p:nvPr/>
        </p:nvSpPr>
        <p:spPr>
          <a:xfrm>
            <a:off x="6610350" y="4914900"/>
            <a:ext cx="41338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rental.created | 2026-05-22 11:47:26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auth.logged_in | 2026-05-22 11:47:20</a:t>
            </a:r>
          </a:p>
        </p:txBody>
      </p:sp>
    </p:spTree>
    <p:extLst>
      <p:ext uri="{BB962C8B-B14F-4D97-AF65-F5344CB8AC3E}">
        <p14:creationId xmlns:p14="http://schemas.microsoft.com/office/powerpoint/2010/main" val="984578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rostokąt 33">
            <a:extLst>
              <a:ext uri="{FF2B5EF4-FFF2-40B4-BE49-F238E27FC236}">
                <a16:creationId xmlns:a16="http://schemas.microsoft.com/office/drawing/2014/main" id="{964C584E-B9A9-4FE2-88F5-1448E35844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2"/>
          </a:solidFill>
          <a:ln w="0">
            <a:solidFill>
              <a:srgbClr val="F8F7F2"/>
            </a:solidFill>
            <a:prstDash val="solid"/>
          </a:ln>
        </p:spPr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361E2681-1F42-4254-B93A-99C9C0D99A46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7C7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7B"/>
                </a:solidFill>
                <a:latin typeface="Aptos"/>
                <a:ea typeface="Aptos"/>
                <a:cs typeface="Aptos"/>
              </a:rPr>
              <a:t>OPERACYJNOŚĆ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ED4719AB-6136-4CD8-9888-318E2143C4DA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885825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Do projektu dołożono podstawę pod obserwowalność i discovery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387911CC-6757-475F-8576-D90E090462B7}"/>
              </a:ext>
            </a:extLst>
          </p:cNvPr>
          <p:cNvSpPr>
            <a:spLocks noGrp="1"/>
          </p:cNvSpPr>
          <p:nvPr/>
        </p:nvSpPr>
        <p:spPr>
          <a:xfrm>
            <a:off x="628650" y="163830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To nie zmienia domeny aplikacji, ale daje narzędzia do diagnozy środowiska kontenerowego.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8730FB30-D9C9-4472-89F8-04B1F54899CC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972800" cy="14288"/>
          </a:xfrm>
          <a:prstGeom prst="rect">
            <a:avLst/>
          </a:prstGeom>
          <a:solidFill>
            <a:srgbClr val="D8D3C7"/>
          </a:solidFill>
          <a:ln w="0">
            <a:solidFill>
              <a:srgbClr val="D8D3C7"/>
            </a:solidFill>
            <a:prstDash val="solid"/>
          </a:ln>
        </p:spPr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F2DFD2D1-DDDE-4565-A714-BC7ADBBA57DD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CineRent | architektura mikroserwisowa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C7810ECB-810B-4BBF-ADE4-BB41253CD62A}"/>
              </a:ext>
            </a:extLst>
          </p:cNvPr>
          <p:cNvSpPr>
            <a:spLocks noGrp="1"/>
          </p:cNvSpPr>
          <p:nvPr/>
        </p:nvSpPr>
        <p:spPr>
          <a:xfrm>
            <a:off x="10906125" y="6486525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E350D5E1-60BA-4186-83D1-7735944C1AA9}"/>
              </a:ext>
            </a:extLst>
          </p:cNvPr>
          <p:cNvSpPr>
            <a:spLocks noGrp="1"/>
          </p:cNvSpPr>
          <p:nvPr/>
        </p:nvSpPr>
        <p:spPr>
          <a:xfrm>
            <a:off x="723900" y="2724150"/>
            <a:ext cx="1752600" cy="146685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</p:spPr>
      </p:sp>
      <p:pic>
        <p:nvPicPr>
          <p:cNvPr id="9" name="Grafika 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95350" y="2914650"/>
            <a:ext cx="304800" cy="304800"/>
          </a:xfrm>
          <a:prstGeom prst="rect">
            <a:avLst/>
          </a:prstGeom>
        </p:spPr>
      </p:pic>
      <p:sp>
        <p:nvSpPr>
          <p:cNvPr id="10" name="Prostokąt 9">
            <a:extLst>
              <a:ext uri="{FF2B5EF4-FFF2-40B4-BE49-F238E27FC236}">
                <a16:creationId xmlns:a16="http://schemas.microsoft.com/office/drawing/2014/main" id="{CE63FB4B-AE57-4E42-A2BA-961F3AF847AF}"/>
              </a:ext>
            </a:extLst>
          </p:cNvPr>
          <p:cNvSpPr>
            <a:spLocks noGrp="1"/>
          </p:cNvSpPr>
          <p:nvPr/>
        </p:nvSpPr>
        <p:spPr>
          <a:xfrm>
            <a:off x="895350" y="3352800"/>
            <a:ext cx="1409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Grafana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1DFEAED7-55D0-49B3-934D-071AB4472F4C}"/>
              </a:ext>
            </a:extLst>
          </p:cNvPr>
          <p:cNvSpPr>
            <a:spLocks noGrp="1"/>
          </p:cNvSpPr>
          <p:nvPr/>
        </p:nvSpPr>
        <p:spPr>
          <a:xfrm>
            <a:off x="895350" y="3714750"/>
            <a:ext cx="1409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dashboard UI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port 3000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23B5B131-D3EE-473A-96F3-164831175EBA}"/>
              </a:ext>
            </a:extLst>
          </p:cNvPr>
          <p:cNvSpPr>
            <a:spLocks noGrp="1"/>
          </p:cNvSpPr>
          <p:nvPr/>
        </p:nvSpPr>
        <p:spPr>
          <a:xfrm>
            <a:off x="2876550" y="2724150"/>
            <a:ext cx="1752600" cy="1466850"/>
          </a:xfrm>
          <a:prstGeom prst="rect">
            <a:avLst/>
          </a:prstGeom>
          <a:solidFill>
            <a:srgbClr val="FFFFFF"/>
          </a:solidFill>
          <a:ln w="19050">
            <a:solidFill>
              <a:srgbClr val="2E9D6F"/>
            </a:solidFill>
            <a:prstDash val="solid"/>
          </a:ln>
        </p:spPr>
      </p:sp>
      <p:pic>
        <p:nvPicPr>
          <p:cNvPr id="13" name="Grafika 1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048000" y="2914650"/>
            <a:ext cx="304800" cy="304800"/>
          </a:xfrm>
          <a:prstGeom prst="rect">
            <a:avLst/>
          </a:prstGeom>
        </p:spPr>
      </p:pic>
      <p:sp>
        <p:nvSpPr>
          <p:cNvPr id="14" name="Prostokąt 13">
            <a:extLst>
              <a:ext uri="{FF2B5EF4-FFF2-40B4-BE49-F238E27FC236}">
                <a16:creationId xmlns:a16="http://schemas.microsoft.com/office/drawing/2014/main" id="{A65A4BD5-D8F9-4871-A01B-BFF1D6FE68B6}"/>
              </a:ext>
            </a:extLst>
          </p:cNvPr>
          <p:cNvSpPr>
            <a:spLocks noGrp="1"/>
          </p:cNvSpPr>
          <p:nvPr/>
        </p:nvSpPr>
        <p:spPr>
          <a:xfrm>
            <a:off x="3048000" y="3352800"/>
            <a:ext cx="1409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Loki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D52BE19-178A-46A8-BBC4-0079D408076B}"/>
              </a:ext>
            </a:extLst>
          </p:cNvPr>
          <p:cNvSpPr>
            <a:spLocks noGrp="1"/>
          </p:cNvSpPr>
          <p:nvPr/>
        </p:nvSpPr>
        <p:spPr>
          <a:xfrm>
            <a:off x="3048000" y="3714750"/>
            <a:ext cx="1409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centralizacja logów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port 3100</a:t>
            </a: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64D40711-31C0-4535-A561-761E4FF70096}"/>
              </a:ext>
            </a:extLst>
          </p:cNvPr>
          <p:cNvSpPr>
            <a:spLocks noGrp="1"/>
          </p:cNvSpPr>
          <p:nvPr/>
        </p:nvSpPr>
        <p:spPr>
          <a:xfrm>
            <a:off x="5029200" y="2724150"/>
            <a:ext cx="1752600" cy="1466850"/>
          </a:xfrm>
          <a:prstGeom prst="rect">
            <a:avLst/>
          </a:prstGeom>
          <a:solidFill>
            <a:srgbClr val="FFFFFF"/>
          </a:solidFill>
          <a:ln w="19050">
            <a:solidFill>
              <a:srgbClr val="F2B134"/>
            </a:solidFill>
            <a:prstDash val="solid"/>
          </a:ln>
        </p:spPr>
      </p:sp>
      <p:pic>
        <p:nvPicPr>
          <p:cNvPr id="17" name="Grafika 1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200650" y="2914650"/>
            <a:ext cx="304800" cy="304800"/>
          </a:xfrm>
          <a:prstGeom prst="rect">
            <a:avLst/>
          </a:prstGeom>
        </p:spPr>
      </p:pic>
      <p:sp>
        <p:nvSpPr>
          <p:cNvPr id="18" name="Prostokąt 17">
            <a:extLst>
              <a:ext uri="{FF2B5EF4-FFF2-40B4-BE49-F238E27FC236}">
                <a16:creationId xmlns:a16="http://schemas.microsoft.com/office/drawing/2014/main" id="{8F0E3F74-C4BA-46A8-AC01-2C6271461C57}"/>
              </a:ext>
            </a:extLst>
          </p:cNvPr>
          <p:cNvSpPr>
            <a:spLocks noGrp="1"/>
          </p:cNvSpPr>
          <p:nvPr/>
        </p:nvSpPr>
        <p:spPr>
          <a:xfrm>
            <a:off x="5200650" y="3352800"/>
            <a:ext cx="1409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Promtail</a:t>
            </a:r>
          </a:p>
        </p:txBody>
      </p:sp>
      <p:sp>
        <p:nvSpPr>
          <p:cNvPr id="19" name="Prostokąt 18">
            <a:extLst>
              <a:ext uri="{FF2B5EF4-FFF2-40B4-BE49-F238E27FC236}">
                <a16:creationId xmlns:a16="http://schemas.microsoft.com/office/drawing/2014/main" id="{02C066A8-0061-4E98-86B4-25FBE8E1CB6A}"/>
              </a:ext>
            </a:extLst>
          </p:cNvPr>
          <p:cNvSpPr>
            <a:spLocks noGrp="1"/>
          </p:cNvSpPr>
          <p:nvPr/>
        </p:nvSpPr>
        <p:spPr>
          <a:xfrm>
            <a:off x="5200650" y="3714750"/>
            <a:ext cx="1409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zbiera logi Dockera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wysyła do Loki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4746DEF8-5A4A-4944-A939-E7ED6198CC71}"/>
              </a:ext>
            </a:extLst>
          </p:cNvPr>
          <p:cNvSpPr>
            <a:spLocks noGrp="1"/>
          </p:cNvSpPr>
          <p:nvPr/>
        </p:nvSpPr>
        <p:spPr>
          <a:xfrm>
            <a:off x="7181850" y="2724150"/>
            <a:ext cx="1752600" cy="1466850"/>
          </a:xfrm>
          <a:prstGeom prst="rect">
            <a:avLst/>
          </a:prstGeom>
          <a:solidFill>
            <a:srgbClr val="FFFFFF"/>
          </a:solidFill>
          <a:ln w="19050">
            <a:solidFill>
              <a:srgbClr val="6554C0"/>
            </a:solidFill>
            <a:prstDash val="solid"/>
          </a:ln>
        </p:spPr>
      </p:sp>
      <p:pic>
        <p:nvPicPr>
          <p:cNvPr id="21" name="Grafika 2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353300" y="2914650"/>
            <a:ext cx="304800" cy="304800"/>
          </a:xfrm>
          <a:prstGeom prst="rect">
            <a:avLst/>
          </a:prstGeom>
        </p:spPr>
      </p:pic>
      <p:sp>
        <p:nvSpPr>
          <p:cNvPr id="22" name="Prostokąt 21">
            <a:extLst>
              <a:ext uri="{FF2B5EF4-FFF2-40B4-BE49-F238E27FC236}">
                <a16:creationId xmlns:a16="http://schemas.microsoft.com/office/drawing/2014/main" id="{835919E0-7ADF-4DBB-8595-A1B05ACE3E03}"/>
              </a:ext>
            </a:extLst>
          </p:cNvPr>
          <p:cNvSpPr>
            <a:spLocks noGrp="1"/>
          </p:cNvSpPr>
          <p:nvPr/>
        </p:nvSpPr>
        <p:spPr>
          <a:xfrm>
            <a:off x="7353300" y="3352800"/>
            <a:ext cx="1409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Jaeger</a:t>
            </a:r>
          </a:p>
        </p:txBody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8FF80851-0CEC-4135-9850-03C58AD7D966}"/>
              </a:ext>
            </a:extLst>
          </p:cNvPr>
          <p:cNvSpPr>
            <a:spLocks noGrp="1"/>
          </p:cNvSpPr>
          <p:nvPr/>
        </p:nvSpPr>
        <p:spPr>
          <a:xfrm>
            <a:off x="7353300" y="3714750"/>
            <a:ext cx="1409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tracing UI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port 16686</a:t>
            </a:r>
          </a:p>
        </p:txBody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C843E90F-5138-4099-A3F4-42E0D10DA466}"/>
              </a:ext>
            </a:extLst>
          </p:cNvPr>
          <p:cNvSpPr>
            <a:spLocks noGrp="1"/>
          </p:cNvSpPr>
          <p:nvPr/>
        </p:nvSpPr>
        <p:spPr>
          <a:xfrm>
            <a:off x="9334500" y="2724150"/>
            <a:ext cx="1752600" cy="146685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FDB"/>
            </a:solidFill>
            <a:prstDash val="solid"/>
          </a:ln>
        </p:spPr>
      </p:sp>
      <p:pic>
        <p:nvPicPr>
          <p:cNvPr id="25" name="Grafika 2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05950" y="2914650"/>
            <a:ext cx="304800" cy="304800"/>
          </a:xfrm>
          <a:prstGeom prst="rect">
            <a:avLst/>
          </a:prstGeom>
        </p:spPr>
      </p:pic>
      <p:sp>
        <p:nvSpPr>
          <p:cNvPr id="26" name="Prostokąt 25">
            <a:extLst>
              <a:ext uri="{FF2B5EF4-FFF2-40B4-BE49-F238E27FC236}">
                <a16:creationId xmlns:a16="http://schemas.microsoft.com/office/drawing/2014/main" id="{D9B6A988-C6C6-4EB9-B72A-AFEEB68998F5}"/>
              </a:ext>
            </a:extLst>
          </p:cNvPr>
          <p:cNvSpPr>
            <a:spLocks noGrp="1"/>
          </p:cNvSpPr>
          <p:nvPr/>
        </p:nvSpPr>
        <p:spPr>
          <a:xfrm>
            <a:off x="9505950" y="3352800"/>
            <a:ext cx="1409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Consul</a:t>
            </a:r>
          </a:p>
        </p:txBody>
      </p:sp>
      <p:sp>
        <p:nvSpPr>
          <p:cNvPr id="27" name="Prostokąt 26">
            <a:extLst>
              <a:ext uri="{FF2B5EF4-FFF2-40B4-BE49-F238E27FC236}">
                <a16:creationId xmlns:a16="http://schemas.microsoft.com/office/drawing/2014/main" id="{40041507-8F79-4259-990A-2B3AD5B55177}"/>
              </a:ext>
            </a:extLst>
          </p:cNvPr>
          <p:cNvSpPr>
            <a:spLocks noGrp="1"/>
          </p:cNvSpPr>
          <p:nvPr/>
        </p:nvSpPr>
        <p:spPr>
          <a:xfrm>
            <a:off x="9505950" y="3714750"/>
            <a:ext cx="1409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service discovery UI</a:t>
            </a:r>
          </a:p>
          <a:p>
            <a:pPr algn="l">
              <a:defRPr sz="1050" b="0">
                <a:solidFill>
                  <a:srgbClr val="5E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E6470"/>
                </a:solidFill>
                <a:latin typeface="Aptos"/>
                <a:ea typeface="Aptos"/>
                <a:cs typeface="Aptos"/>
              </a:rPr>
              <a:t>port 8500</a:t>
            </a:r>
          </a:p>
        </p:txBody>
      </p:sp>
      <p:sp>
        <p:nvSpPr>
          <p:cNvPr id="28" name="Prostokąt 27">
            <a:extLst>
              <a:ext uri="{FF2B5EF4-FFF2-40B4-BE49-F238E27FC236}">
                <a16:creationId xmlns:a16="http://schemas.microsoft.com/office/drawing/2014/main" id="{5F1C5F4F-F573-40C6-BE33-B46D2C5D91D1}"/>
              </a:ext>
            </a:extLst>
          </p:cNvPr>
          <p:cNvSpPr>
            <a:spLocks noGrp="1"/>
          </p:cNvSpPr>
          <p:nvPr/>
        </p:nvSpPr>
        <p:spPr>
          <a:xfrm>
            <a:off x="1771650" y="4762500"/>
            <a:ext cx="3905250" cy="933450"/>
          </a:xfrm>
          <a:prstGeom prst="rect">
            <a:avLst/>
          </a:prstGeom>
          <a:solidFill>
            <a:srgbClr val="111827"/>
          </a:solidFill>
          <a:ln w="19050">
            <a:solidFill>
              <a:srgbClr val="2E9D6F"/>
            </a:solidFill>
            <a:prstDash val="solid"/>
          </a:ln>
        </p:spPr>
      </p:sp>
      <p:sp>
        <p:nvSpPr>
          <p:cNvPr id="29" name="Prostokąt 28">
            <a:extLst>
              <a:ext uri="{FF2B5EF4-FFF2-40B4-BE49-F238E27FC236}">
                <a16:creationId xmlns:a16="http://schemas.microsoft.com/office/drawing/2014/main" id="{E946EA0B-271F-4516-B01F-992A5A3895C5}"/>
              </a:ext>
            </a:extLst>
          </p:cNvPr>
          <p:cNvSpPr>
            <a:spLocks noGrp="1"/>
          </p:cNvSpPr>
          <p:nvPr/>
        </p:nvSpPr>
        <p:spPr>
          <a:xfrm>
            <a:off x="1943100" y="4895850"/>
            <a:ext cx="3562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9D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9D6F"/>
                </a:solidFill>
                <a:latin typeface="Aptos"/>
                <a:ea typeface="Aptos"/>
                <a:cs typeface="Aptos"/>
              </a:rPr>
              <a:t>Zakres wdrożony</a:t>
            </a:r>
          </a:p>
        </p:txBody>
      </p:sp>
      <p:sp>
        <p:nvSpPr>
          <p:cNvPr id="30" name="Prostokąt 29">
            <a:extLst>
              <a:ext uri="{FF2B5EF4-FFF2-40B4-BE49-F238E27FC236}">
                <a16:creationId xmlns:a16="http://schemas.microsoft.com/office/drawing/2014/main" id="{DFF46407-4F4D-43C3-8F9B-B3AEC6BCD24E}"/>
              </a:ext>
            </a:extLst>
          </p:cNvPr>
          <p:cNvSpPr>
            <a:spLocks noGrp="1"/>
          </p:cNvSpPr>
          <p:nvPr/>
        </p:nvSpPr>
        <p:spPr>
          <a:xfrm>
            <a:off x="1943100" y="5143500"/>
            <a:ext cx="35623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kontenery + provisioning Grafany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konfiguracje Loki/Promtail</a:t>
            </a:r>
          </a:p>
        </p:txBody>
      </p:sp>
      <p:sp>
        <p:nvSpPr>
          <p:cNvPr id="31" name="Prostokąt 30">
            <a:extLst>
              <a:ext uri="{FF2B5EF4-FFF2-40B4-BE49-F238E27FC236}">
                <a16:creationId xmlns:a16="http://schemas.microsoft.com/office/drawing/2014/main" id="{1AFA6C03-AA9A-453A-B7C3-743F356F3E76}"/>
              </a:ext>
            </a:extLst>
          </p:cNvPr>
          <p:cNvSpPr>
            <a:spLocks noGrp="1"/>
          </p:cNvSpPr>
          <p:nvPr/>
        </p:nvSpPr>
        <p:spPr>
          <a:xfrm>
            <a:off x="6515100" y="4762500"/>
            <a:ext cx="3905250" cy="933450"/>
          </a:xfrm>
          <a:prstGeom prst="rect">
            <a:avLst/>
          </a:prstGeom>
          <a:solidFill>
            <a:srgbClr val="111827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95E25E85-E507-4F76-94D0-4213948B345D}"/>
              </a:ext>
            </a:extLst>
          </p:cNvPr>
          <p:cNvSpPr>
            <a:spLocks noGrp="1"/>
          </p:cNvSpPr>
          <p:nvPr/>
        </p:nvSpPr>
        <p:spPr>
          <a:xfrm>
            <a:off x="6686550" y="4895850"/>
            <a:ext cx="3562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2B134"/>
                </a:solidFill>
                <a:latin typeface="Aptos"/>
                <a:ea typeface="Aptos"/>
                <a:cs typeface="Aptos"/>
              </a:rPr>
              <a:t>Zakres do domknięcia</a:t>
            </a:r>
          </a:p>
        </p:txBody>
      </p:sp>
      <p:sp>
        <p:nvSpPr>
          <p:cNvPr id="33" name="Prostokąt 32">
            <a:extLst>
              <a:ext uri="{FF2B5EF4-FFF2-40B4-BE49-F238E27FC236}">
                <a16:creationId xmlns:a16="http://schemas.microsoft.com/office/drawing/2014/main" id="{0C6A563C-74B3-47CB-A59F-466B7C140B88}"/>
              </a:ext>
            </a:extLst>
          </p:cNvPr>
          <p:cNvSpPr>
            <a:spLocks noGrp="1"/>
          </p:cNvSpPr>
          <p:nvPr/>
        </p:nvSpPr>
        <p:spPr>
          <a:xfrm>
            <a:off x="6686550" y="5143500"/>
            <a:ext cx="35623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metryki, alerty</a:t>
            </a:r>
          </a:p>
          <a:p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instrumentacja trace w kodzie aplikacji</a:t>
            </a:r>
          </a:p>
        </p:txBody>
      </p:sp>
    </p:spTree>
    <p:extLst>
      <p:ext uri="{BB962C8B-B14F-4D97-AF65-F5344CB8AC3E}">
        <p14:creationId xmlns:p14="http://schemas.microsoft.com/office/powerpoint/2010/main" val="5476694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808</Words>
  <Application>Microsoft Office PowerPoint</Application>
  <DocSecurity>0</DocSecurity>
  <PresentationFormat>Panoramiczny</PresentationFormat>
  <Paragraphs>194</Paragraphs>
  <Slides>9</Slides>
  <Notes>9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Aptos Mono</vt:lpstr>
      <vt:lpstr>Calibri</vt:lpstr>
      <vt:lpstr>ChatGPT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Jakub Kołodziej</cp:lastModifiedBy>
  <cp:revision>1</cp:revision>
  <dcterms:created xsi:type="dcterms:W3CDTF">2026-05-22T11:57:41Z</dcterms:created>
  <dcterms:modified xsi:type="dcterms:W3CDTF">2026-05-27T12:41:58Z</dcterms:modified>
</cp:coreProperties>
</file>