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4af8119e24956" /><Relationship Type="http://schemas.openxmlformats.org/officeDocument/2006/relationships/extended-properties" Target="/docProps/app.xml" Id="Rc4dbb5f640a749a1" /><Relationship Type="http://schemas.openxmlformats.org/officeDocument/2006/relationships/officeDocument" Target="/ppt/presentation.xml" Id="R5193913f88de47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6eb7363bb7400d"/>
  </p:sldMasterIdLst>
  <p:notesMasterIdLst>
    <p:notesMasterId xmlns:r="http://schemas.openxmlformats.org/officeDocument/2006/relationships" r:id="Rae407ce8601a4fff"/>
  </p:notesMasterIdLst>
  <p:sldIdLst>
    <p:sldId xmlns:r="http://schemas.openxmlformats.org/officeDocument/2006/relationships" id="256" r:id="R6c705f37b44640db"/>
    <p:sldId xmlns:r="http://schemas.openxmlformats.org/officeDocument/2006/relationships" id="257" r:id="Rf0cb19fcf08e411d"/>
    <p:sldId xmlns:r="http://schemas.openxmlformats.org/officeDocument/2006/relationships" id="258" r:id="Rabed227cee1e43bb"/>
    <p:sldId xmlns:r="http://schemas.openxmlformats.org/officeDocument/2006/relationships" id="259" r:id="R94199080afa14b79"/>
    <p:sldId xmlns:r="http://schemas.openxmlformats.org/officeDocument/2006/relationships" id="260" r:id="R380ba43288b74b6d"/>
    <p:sldId xmlns:r="http://schemas.openxmlformats.org/officeDocument/2006/relationships" id="261" r:id="R2c22e79641b046f2"/>
    <p:sldId xmlns:r="http://schemas.openxmlformats.org/officeDocument/2006/relationships" id="262" r:id="Rf96ff3dd42ef45e4"/>
    <p:sldId xmlns:r="http://schemas.openxmlformats.org/officeDocument/2006/relationships" id="263" r:id="Re8946b6287d8473e"/>
    <p:sldId xmlns:r="http://schemas.openxmlformats.org/officeDocument/2006/relationships" id="264" r:id="R340a39484e024ec1"/>
    <p:sldId xmlns:r="http://schemas.openxmlformats.org/officeDocument/2006/relationships" id="265" r:id="Rb366b9b1b7ff4c04"/>
    <p:sldId xmlns:r="http://schemas.openxmlformats.org/officeDocument/2006/relationships" id="266" r:id="R3b5e9cd78faa45b2"/>
    <p:sldId xmlns:r="http://schemas.openxmlformats.org/officeDocument/2006/relationships" id="267" r:id="R457c5cb87d754f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eb7363bb7400d" /><Relationship Type="http://schemas.openxmlformats.org/officeDocument/2006/relationships/theme" Target="/ppt/theme/theme1.xml" Id="Rcfd5626e63944cd6" /><Relationship Type="http://schemas.openxmlformats.org/officeDocument/2006/relationships/notesMaster" Target="/ppt/notesMasters/notesMaster1.xml" Id="Rae407ce8601a4fff" /><Relationship Type="http://schemas.openxmlformats.org/officeDocument/2006/relationships/presProps" Target="/ppt/presProps.xml" Id="Ra719f571e8364e83" /><Relationship Type="http://schemas.openxmlformats.org/officeDocument/2006/relationships/viewProps" Target="/ppt/viewProps.xml" Id="R2ff5b237a3e34fbe" /><Relationship Type="http://schemas.openxmlformats.org/officeDocument/2006/relationships/tableStyles" Target="/ppt/tableStyles.xml" Id="R96a98b2e70a143f5" /><Relationship Type="http://schemas.openxmlformats.org/officeDocument/2006/relationships/slide" Target="/ppt/slides/slide1.xml" Id="R6c705f37b44640db" /><Relationship Type="http://schemas.openxmlformats.org/officeDocument/2006/relationships/slide" Target="/ppt/slides/slide2.xml" Id="Rf0cb19fcf08e411d" /><Relationship Type="http://schemas.openxmlformats.org/officeDocument/2006/relationships/slide" Target="/ppt/slides/slide3.xml" Id="Rabed227cee1e43bb" /><Relationship Type="http://schemas.openxmlformats.org/officeDocument/2006/relationships/slide" Target="/ppt/slides/slide4.xml" Id="R94199080afa14b79" /><Relationship Type="http://schemas.openxmlformats.org/officeDocument/2006/relationships/slide" Target="/ppt/slides/slide5.xml" Id="R380ba43288b74b6d" /><Relationship Type="http://schemas.openxmlformats.org/officeDocument/2006/relationships/slide" Target="/ppt/slides/slide6.xml" Id="R2c22e79641b046f2" /><Relationship Type="http://schemas.openxmlformats.org/officeDocument/2006/relationships/slide" Target="/ppt/slides/slide7.xml" Id="Rf96ff3dd42ef45e4" /><Relationship Type="http://schemas.openxmlformats.org/officeDocument/2006/relationships/slide" Target="/ppt/slides/slide8.xml" Id="Re8946b6287d8473e" /><Relationship Type="http://schemas.openxmlformats.org/officeDocument/2006/relationships/slide" Target="/ppt/slides/slide9.xml" Id="R340a39484e024ec1" /><Relationship Type="http://schemas.openxmlformats.org/officeDocument/2006/relationships/slide" Target="/ppt/slides/slide10.xml" Id="Rb366b9b1b7ff4c04" /><Relationship Type="http://schemas.openxmlformats.org/officeDocument/2006/relationships/slide" Target="/ppt/slides/slide11.xml" Id="R3b5e9cd78faa45b2" /><Relationship Type="http://schemas.openxmlformats.org/officeDocument/2006/relationships/slide" Target="/ppt/slides/slide12.xml" Id="R457c5cb87d754f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40a9764a3f540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58eab23e1f426e" /><Relationship Type="http://schemas.openxmlformats.org/officeDocument/2006/relationships/notesMaster" Target="/ppt/notesMasters/notesMaster1.xml" Id="R35e6a802ba3e40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6b12a2fc414575" /><Relationship Type="http://schemas.openxmlformats.org/officeDocument/2006/relationships/notesMaster" Target="/ppt/notesMasters/notesMaster1.xml" Id="R2865527249d449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a0c261b1e74fdd" /><Relationship Type="http://schemas.openxmlformats.org/officeDocument/2006/relationships/notesMaster" Target="/ppt/notesMasters/notesMaster1.xml" Id="Rbebce730e2584c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5439c2fd9546e3" /><Relationship Type="http://schemas.openxmlformats.org/officeDocument/2006/relationships/notesMaster" Target="/ppt/notesMasters/notesMaster1.xml" Id="Rccc12855f2e241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a45a326549432a" /><Relationship Type="http://schemas.openxmlformats.org/officeDocument/2006/relationships/notesMaster" Target="/ppt/notesMasters/notesMaster1.xml" Id="R431e9e75c2ce45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a4c55ffa5a4946" /><Relationship Type="http://schemas.openxmlformats.org/officeDocument/2006/relationships/notesMaster" Target="/ppt/notesMasters/notesMaster1.xml" Id="Rde629bc9e01b44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4c9e19a4ca4d6b" /><Relationship Type="http://schemas.openxmlformats.org/officeDocument/2006/relationships/notesMaster" Target="/ppt/notesMasters/notesMaster1.xml" Id="R0b60fa0a151a4f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952748579f4343" /><Relationship Type="http://schemas.openxmlformats.org/officeDocument/2006/relationships/notesMaster" Target="/ppt/notesMasters/notesMaster1.xml" Id="R8b75c386d52c40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936056c08f4349" /><Relationship Type="http://schemas.openxmlformats.org/officeDocument/2006/relationships/notesMaster" Target="/ppt/notesMasters/notesMaster1.xml" Id="Ra1e365cf9d554d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5e66ed62cd40f0" /><Relationship Type="http://schemas.openxmlformats.org/officeDocument/2006/relationships/notesMaster" Target="/ppt/notesMasters/notesMaster1.xml" Id="R5f1fd109b08348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5bb0aac71249fb" /><Relationship Type="http://schemas.openxmlformats.org/officeDocument/2006/relationships/notesMaster" Target="/ppt/notesMasters/notesMaster1.xml" Id="R735be973db034f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174a94ae0847c3" /><Relationship Type="http://schemas.openxmlformats.org/officeDocument/2006/relationships/notesMaster" Target="/ppt/notesMasters/notesMaster1.xml" Id="Rf2038958b5314c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dfaadc2e1466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902819af97f486b" /><Relationship Type="http://schemas.openxmlformats.org/officeDocument/2006/relationships/slideLayout" Target="/ppt/slideLayouts/slideLayout2.xml" Id="R585272c253104e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5272c253104e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2513ee06964307" /><Relationship Type="http://schemas.openxmlformats.org/officeDocument/2006/relationships/image" Target="/ppt/media/image.jpeg" Id="Rf696f0acb8304a6f" /><Relationship Type="http://schemas.openxmlformats.org/officeDocument/2006/relationships/image" Target="/ppt/media/image2.jpeg" Id="Rd7933ed91758447e" /><Relationship Type="http://schemas.openxmlformats.org/officeDocument/2006/relationships/image" Target="/ppt/media/image3.jpeg" Id="Rb0cb2750f67c44be" /><Relationship Type="http://schemas.openxmlformats.org/officeDocument/2006/relationships/image" Target="/ppt/media/image4.jpeg" Id="R38e04bf367034338" /><Relationship Type="http://schemas.openxmlformats.org/officeDocument/2006/relationships/image" Target="/ppt/media/image5.jpeg" Id="R36d5d1fefb2745a1" /><Relationship Type="http://schemas.openxmlformats.org/officeDocument/2006/relationships/image" Target="/ppt/media/image6.jpeg" Id="R8bb53f35de614c25" /><Relationship Type="http://schemas.openxmlformats.org/officeDocument/2006/relationships/notesSlide" Target="/ppt/notesSlides/notesSlide1.xml" Id="R570d608e454c4b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1c7515223b4bb8" /><Relationship Type="http://schemas.openxmlformats.org/officeDocument/2006/relationships/image" Target="/ppt/media/image7.jpeg" Id="Radc45aca3dd74074" /><Relationship Type="http://schemas.openxmlformats.org/officeDocument/2006/relationships/image" Target="/ppt/media/image8.jpeg" Id="R89981637fdd54f2a" /><Relationship Type="http://schemas.openxmlformats.org/officeDocument/2006/relationships/image" Target="/ppt/media/image9.jpeg" Id="R17f7f5b193094e4f" /><Relationship Type="http://schemas.openxmlformats.org/officeDocument/2006/relationships/image" Target="/ppt/media/image10.jpeg" Id="R990f784b2533449a" /><Relationship Type="http://schemas.openxmlformats.org/officeDocument/2006/relationships/notesSlide" Target="/ppt/notesSlides/notesSlide2.xml" Id="R4c52c81d459c41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bc6a97d86847ab" /><Relationship Type="http://schemas.openxmlformats.org/officeDocument/2006/relationships/notesSlide" Target="/ppt/notesSlides/notesSlide3.xml" Id="Rc4c54dddeb9a46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69e2eb883f4f31" /><Relationship Type="http://schemas.openxmlformats.org/officeDocument/2006/relationships/notesSlide" Target="/ppt/notesSlides/notesSlide4.xml" Id="Ra1e569c3da2343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3a5b2cea442d5" /><Relationship Type="http://schemas.openxmlformats.org/officeDocument/2006/relationships/notesSlide" Target="/ppt/notesSlides/notesSlide5.xml" Id="Rceb8dc4a426f47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e5af30a61049cf" /><Relationship Type="http://schemas.openxmlformats.org/officeDocument/2006/relationships/notesSlide" Target="/ppt/notesSlides/notesSlide6.xml" Id="Rddf84b31b0f44b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1fad8ac55f4bd7" /><Relationship Type="http://schemas.openxmlformats.org/officeDocument/2006/relationships/image" Target="/ppt/media/image.png" Id="R104014e04ec842b7" /><Relationship Type="http://schemas.openxmlformats.org/officeDocument/2006/relationships/image" Target="/ppt/media/image.svg" Id="R450c86b1790d4e64" /><Relationship Type="http://schemas.openxmlformats.org/officeDocument/2006/relationships/notesSlide" Target="/ppt/notesSlides/notesSlide7.xml" Id="R4a458b89429042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cf59ac0f62494e" /><Relationship Type="http://schemas.openxmlformats.org/officeDocument/2006/relationships/notesSlide" Target="/ppt/notesSlides/notesSlide8.xml" Id="Rd11d5f2cad4e47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2bd1359c55472c" /><Relationship Type="http://schemas.openxmlformats.org/officeDocument/2006/relationships/image" Target="/ppt/media/image2.png" Id="R724b1359021d4915" /><Relationship Type="http://schemas.openxmlformats.org/officeDocument/2006/relationships/image" Target="/ppt/media/image2.svg" Id="Rf34db532c8f94470" /><Relationship Type="http://schemas.openxmlformats.org/officeDocument/2006/relationships/image" Target="/ppt/media/image3.png" Id="R9a82dfc91d15428a" /><Relationship Type="http://schemas.openxmlformats.org/officeDocument/2006/relationships/image" Target="/ppt/media/image3.svg" Id="Rcbe66f99f39c4637" /><Relationship Type="http://schemas.openxmlformats.org/officeDocument/2006/relationships/image" Target="/ppt/media/image4.png" Id="R78d2699037034f71" /><Relationship Type="http://schemas.openxmlformats.org/officeDocument/2006/relationships/image" Target="/ppt/media/image4.svg" Id="R2d280f7ca3294d50" /><Relationship Type="http://schemas.openxmlformats.org/officeDocument/2006/relationships/image" Target="/ppt/media/image5.png" Id="Rb634efdb8bcd4133" /><Relationship Type="http://schemas.openxmlformats.org/officeDocument/2006/relationships/image" Target="/ppt/media/image5.svg" Id="Rbbbd934114eb4fbc" /><Relationship Type="http://schemas.openxmlformats.org/officeDocument/2006/relationships/image" Target="/ppt/media/image6.png" Id="R01ee5c30eeca4ef2" /><Relationship Type="http://schemas.openxmlformats.org/officeDocument/2006/relationships/image" Target="/ppt/media/image6.svg" Id="R49a014d2b7ef4530" /><Relationship Type="http://schemas.openxmlformats.org/officeDocument/2006/relationships/notesSlide" Target="/ppt/notesSlides/notesSlide9.xml" Id="R696e70bc70de40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18e838e1c5470b" /><Relationship Type="http://schemas.openxmlformats.org/officeDocument/2006/relationships/notesSlide" Target="/ppt/notesSlides/notesSlide10.xml" Id="R791b856418f141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26f84b2f234985" /><Relationship Type="http://schemas.openxmlformats.org/officeDocument/2006/relationships/notesSlide" Target="/ppt/notesSlides/notesSlide11.xml" Id="Raa29b4a6d2dc43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7985abea0e4c31" /><Relationship Type="http://schemas.openxmlformats.org/officeDocument/2006/relationships/notesSlide" Target="/ppt/notesSlides/notesSlide12.xml" Id="Rd6d2e0ef17cb44b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62AF5B-3FE1-4F85-BD6F-B4A11D9F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6f0acb8304a6f"/>
          <a:srcRect xmlns:a="http://schemas.openxmlformats.org/drawingml/2006/main" l="0" t="1900" r="0" b="19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323850"/>
            <a:ext cx="1257300" cy="1809750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33ed91758447e"/>
          <a:srcRect xmlns:a="http://schemas.openxmlformats.org/drawingml/2006/main" l="0" t="1960" r="0" b="19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6400" y="323850"/>
            <a:ext cx="1257300" cy="180975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b2750f67c44be"/>
          <a:srcRect xmlns:a="http://schemas.openxmlformats.org/drawingml/2006/main" l="0" t="1360" r="0" b="13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324100"/>
            <a:ext cx="1257300" cy="180975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04bf367034338"/>
          <a:srcRect xmlns:a="http://schemas.openxmlformats.org/drawingml/2006/main" l="0" t="221" r="0" b="2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6400" y="2324100"/>
            <a:ext cx="125730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5d1fefb2745a1"/>
          <a:srcRect xmlns:a="http://schemas.openxmlformats.org/drawingml/2006/main" l="0" t="1828" r="0" b="1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4324350"/>
            <a:ext cx="1257300" cy="18097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53f35de614c25"/>
          <a:srcRect xmlns:a="http://schemas.openxmlformats.org/drawingml/2006/main" l="0" t="2020" r="0" b="2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6400" y="4324350"/>
            <a:ext cx="1257300" cy="1809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2F0D3-8BAE-41FD-BC76-6188CFFD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F7CED-077B-4CAF-B5E2-811B6B92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533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CineRent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30172-05D0-4026-ACA1-5EFB3AAB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7ECE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E7ECEF"/>
                </a:solidFill>
                <a:latin typeface="Aptos"/>
                <a:ea typeface="Aptos"/>
                <a:cs typeface="Aptos"/>
              </a:rPr>
              <a:t>Architektura mikroserwisowa wypożyczalni VOD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A70DE-C374-4113-98C7-9F398C4D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React + Flask + PostgreSQL rozszerzone o API Gateway, RabbitMQ, outbox, audit, notification-service i obserwowalność.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BF7EC-0CA6-448B-AD72-ABC0A9BF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F2B1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6CB55-06E9-4176-A4D3-756A26F8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6E9CB-5995-4124-8B53-47C056FF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767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2E9D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063F1-4142-42BE-B996-944D754F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529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7FCF9-9990-4231-BA59-BD0DAF4F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767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E85D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BAA7D-1C25-4070-A030-D4BC29B9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529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85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4A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BFC69-A566-4EDE-9EAE-21749025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619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1ABEE-EE16-4729-8759-080F5D6D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584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Potwierdzone działanie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86343-AC33-4DC4-BE5C-377ED5AD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584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HTTP 200/201 przez gateway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outbox_events: published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audit_events: auth.logged_in, rental.created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9EA4B-D48E-4BD1-981D-EBD10385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16159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BD2CF0-5175-4C10-AB3A-76214794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F9846-BB62-465F-B1B2-613BC01E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PUNKT WYJŚCIA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2B93E-E3EC-47A3-AD9F-8E4EFA92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Działająca aplikacja VOD była bazą, której nie trzeba było przepisywać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F8189-2F72-4F98-B6BE-DC7C48E5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Warstwowy backend i Reactowy frontend zostały zachowane, a mikroserwisy dopięte obok.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28583-FAB6-4D35-BDAD-03DDF5B8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C7A6C-4743-4D31-8046-637BC5AB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CineRent | architektura mikroserwisowa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0700F-0987-45BD-B103-31AEFC95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5007A-3261-447C-8983-3D88CC0F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D5694-E7E4-4707-A14F-22FF1A33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D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6FDB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5B3CA-0271-4142-AB45-50216D91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943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interfejs katalogu, logowania, profilu i wypożyczeń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9092A-8F1B-4E39-94EE-7A2F9932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11FA8-CF6A-4E31-A6DA-2FD3CF47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33675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Flask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A3F61-258B-4DC5-B1A9-80FDF8C2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95625"/>
            <a:ext cx="2228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API z JWT, route -&gt; service -&gt; repository -&gt;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FBB66-DAAD-4044-ABC9-3902ED1C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85A1C-1F94-4433-909F-7AA1DA1A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33675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24B88-2813-48FD-9DA4-E1C4FF91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95625"/>
            <a:ext cx="2228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główna relacyjna baza danych i źródło prawdy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D1292-516F-4C22-9EC8-4CC104B9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18EC8-C5CC-44F6-89EF-E3A372BB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5D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85D4A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043B4-382B-4985-9945-8473EB5E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95625"/>
            <a:ext cx="1943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jeden sposób startu całego środowiska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9316C-349B-404B-AB29-A6C4EB48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1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7478F-7D16-450C-9264-2A82872C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C2E49-035E-4CC0-A1D9-2A53630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462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Zakres produktu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75737-9471-4105-A25E-30097484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4629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logowanie, katalog filmów, wypożyczenie na 14 dni, zwrot, historia, plakaty i dane powiązane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45aca3dd74074"/>
          <a:srcRect xmlns:a="http://schemas.openxmlformats.org/drawingml/2006/main" l="0" t="3217" r="0" b="3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3962400"/>
            <a:ext cx="1047750" cy="14668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81637fdd54f2a"/>
          <a:srcRect xmlns:a="http://schemas.openxmlformats.org/drawingml/2006/main" l="0" t="3275" r="0" b="3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3962400"/>
            <a:ext cx="1047750" cy="14668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7f5b193094e4f"/>
          <a:srcRect xmlns:a="http://schemas.openxmlformats.org/drawingml/2006/main" l="0" t="2691" r="0" b="26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0" y="3962400"/>
            <a:ext cx="1047750" cy="14668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f784b2533449a"/>
          <a:srcRect xmlns:a="http://schemas.openxmlformats.org/drawingml/2006/main" l="0" t="1583" r="0" b="1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4100" y="3962400"/>
            <a:ext cx="1047750" cy="1466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65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F6AAA7-272E-48B4-9568-BB9C18EA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5880F-AE10-48F1-A0DF-EA9AD624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DOCELOWY UKŁAD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20F5F-C641-45C4-8CB7-8BF6EDD9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Docker Compose spina aplikację, komunikację, dane i obserwowalność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3E442-1DC5-42AE-BEC6-D2C5D652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PostgreSQL zostaje główną bazą; nowe elementy są dołożone jako osobne kontenery.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43258-3521-4A30-B800-9209091E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064B1-08D5-4D0F-B668-23213A9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CineRent | architektura mikroserwisowa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FE89D-FA2E-4E65-A671-3C2A193C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AEADE-4F36-46A8-8AA5-9785C967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D0933-F41D-4611-8A8F-F6278B65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6C4CF-01BF-446D-AE39-06F6634B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676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95A0D-F9C2-4E21-AB0D-5F7B1D0C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React build serwowany przez Nginx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port hosta: 8080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3DDE5-7584-4463-BDC6-0D3DD737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146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05E57-B208-498E-81CA-C5890E23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146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70173-F5B7-4460-9F14-3770FB4F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47950"/>
            <a:ext cx="1866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C9C98-FD7F-4220-B841-5BA3BF32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Nginx: routing, rate limiting,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nagłówki, /health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72964-A953-4956-8CA3-D273F432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2FD35-20A4-48EF-910A-2E8AE99F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2278F-A830-40A4-AC8C-231B5C6E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1866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2A42F-7069-4883-A648-B2B44BA7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146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Flask + Gunicorn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API i logika domenowa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0EA2A-D760-46FC-85CE-25BD5211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146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B2686-5586-4ABE-93EA-EA2779E0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146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25C72-EBF0-40C4-902B-D193FE10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1962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991BA-8EEB-4212-849F-9EB4C602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1465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users, movies, rentals,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outbox_events, audit_events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89CF9-9627-4A2D-9545-4E462003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03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A9CAF-4F00-4E61-9B6D-8A93C345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03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83753-69C7-4090-8CC9-3523D78F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03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031A33-DE19-4583-9BAB-84A98A2F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100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1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3CF0D-FD6E-46F4-862D-AA53677A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100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D4F4D8-CE6F-4DFD-865E-DD6A1093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43400"/>
            <a:ext cx="1866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Outbox worker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E3F2C1-0C11-44DF-861B-371F78F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1010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czyta pending events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publikuje do RabbitMQ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DD3F4C-4B82-46CE-B8F1-396AF9F2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100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54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217883-CAEF-4A33-9408-B8B27081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100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7001B7-63C9-4375-AE2D-38C6DEB5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4340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87BC9B-9216-448B-8894-62A3B2AB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10100"/>
            <a:ext cx="1771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exchange cinerent.events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routing: topic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8CEB07-3817-4079-A01A-580DC51B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53EF17-100B-4302-9A3E-6553D081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FF85CD-F486-4E1E-A32D-1B7D8458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Notification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EE9F9A-5BEA-427D-A150-2D19A69E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subskrybuje rental.*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loguje powiadomienia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E5A233-A7C9-4451-8A5E-75132433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2920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43D4F3-4670-4DEE-9F9D-02223E86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292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33A7B8-C904-4051-B955-3F1BDDD3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9A61C8-EC97-4338-8C62-38F54D4D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292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subskrybuje #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zapisuje audit_events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1B824B-C671-4C51-8C16-663CDA21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052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05F986-9B12-47A7-A836-9671407D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577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60005B-5551-4390-8B03-9561A27B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577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759D90-AAEB-47B5-B274-2E6C1672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958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E29090-0B5E-4197-8178-20D35E6F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577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065A31-8E9B-4406-A0FD-A615FB85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67250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11C4F6-8CEE-4265-98AC-96888025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581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Obserwowalność i discovery: Grafana + Loki + Promtail, Jaeger, Consul</a:t>
            </a:r>
          </a:p>
        </p:txBody>
      </p:sp>
    </p:spTree>
    <p:extLst>
      <p:ext uri="{BB962C8B-B14F-4D97-AF65-F5344CB8AC3E}">
        <p14:creationId xmlns:p14="http://schemas.microsoft.com/office/powerpoint/2010/main" val="17567441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F8C9E1-97F4-4D20-961F-DFD4C58C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FD737-8CA6-416E-8FB8-74FFA966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EDGE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12D4A-A288-4CC2-9726-D9CCE2D2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Gateway przejmuje odpowiedzialność za wejście do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21A11-3DD0-469E-8C2D-97CE4CF4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Frontend nadal woła /api, ale ruch przechodzi przez osobny kontener api-gateway.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5374B-CB61-4A01-91DE-01BB6160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465C9-F3C3-417C-95AD-913B54AD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CineRent | architektura mikroserwisowa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75D03-80D1-4E51-8B3F-3D9F4403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656D6-2D44-4A5E-959E-B495BD18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B3B53-0095-4D68-85F1-4520B263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002CC-8C4B-4C2E-A6C9-4961557E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Przeglądarka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57C68-3923-451C-9DB9-B4B0D9CE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http://localhost:8080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1150B-56F7-4685-BF0E-0CA01827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1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2A058-6784-4623-AB13-B349A681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11F04-8693-4A71-A281-AB91FA39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62250"/>
            <a:ext cx="1962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Frontend Nginx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53FAC-1A0B-4602-A7C0-9022B417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28950"/>
            <a:ext cx="1962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proxy /api -&gt; api-gateway:80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8FBB4-1F1A-4FB2-A0A2-0EC80C28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E7ECB-D7A7-4521-A77C-737650DC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F5B33-EF18-4C6F-8EEE-C101DE01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2343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17A51-DB61-4338-A7BB-8269FD3C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Nginx upstream backend:5000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X-Gateway, nosniff, /health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D4159-D827-4EF7-BD32-66E1BB1B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2890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628A8-4725-4807-A8B1-5297F7F8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289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22A34-9422-43B8-B29A-2BE4E346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1581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197ED-FA29-4D29-9DD1-83A779F4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28950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Flask endpoints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/api/auth, /api/movies, /api/rentals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B41F5-22CF-4000-8C4D-B83449BE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956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20B9C-DFBD-4228-B70D-47CF0811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956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A243BE-B31D-4C3E-9AAB-9BA7EE2D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956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0B1C7-4B5E-4F56-869C-F724839B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4210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4E542D-6C9B-48BD-9DCC-4814FFFF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4A"/>
                </a:solidFill>
                <a:latin typeface="Aptos"/>
                <a:ea typeface="Aptos"/>
                <a:cs typeface="Aptos"/>
              </a:rPr>
              <a:t>Rate limiting w gatewayu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D2EBF8-FFBF-4D6E-B576-19FC8172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81550"/>
            <a:ext cx="386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api_rate: 10r/s, burst 30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auth_rate: 5r/m, burst 5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limit_req_status 429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7B7D5-F8EB-4AF3-98EB-46B9B78F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924272-459B-4E14-9105-5524ED9C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13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Dowód z odpowiedzi HTTP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2DCF6A-ED85-4177-BBEA-246CB927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81550"/>
            <a:ext cx="4133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X-Gateway: cinerent-api-gateway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Content-Type: application/json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GET /api/genres -&gt; 200</a:t>
            </a:r>
          </a:p>
        </p:txBody>
      </p:sp>
    </p:spTree>
    <p:extLst>
      <p:ext uri="{BB962C8B-B14F-4D97-AF65-F5344CB8AC3E}">
        <p14:creationId xmlns:p14="http://schemas.microsoft.com/office/powerpoint/2010/main" val="886806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9BD16-7589-4B6F-AB36-E1225814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2DE71-899D-429E-A2A3-AF6E491E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KOMUNIKACJA ZDARZENIOWA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E8FD4-C623-4747-B3B4-6F1A1826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Zdarzenia odpinają operacje biznesowe od usług pobocznych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41548-38E0-4610-9292-1277A60E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Backend zapisuje fakt domenowy, a publikacja i reakcje dzieją się asynchronicznie.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CD4C7-E3D4-4022-889D-9C0DB5FE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7FA21-1B4B-4713-9C0D-F152B8C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CineRent | architektura mikroserwisowa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ED8A1-0816-4A7D-9620-F1E3BDA3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58F88-B3D1-4936-8EC6-9FE60680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D2C16-94EB-451B-9EF3-9B10A7F0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2E524-96A2-4ED7-8C88-8602E089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1B3F2-4DF1-41F1-ABDF-1D6C6FCE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/api/rentals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BE719-FCE7-4478-95A5-D9F25AC4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użytkownik wypożycza film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F1CCE-2722-4DCB-8F02-F8EE1CB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242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DBA20-30E8-4D79-838F-6ADC1008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194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29801-826F-4645-A613-BE05FA4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90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D499E-C737-49C3-92B6-77BE640C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1AA82-5EB8-4B05-9800-291C5803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861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EB47E-92D0-4DDB-95DF-65FC155E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814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walidacja + zapis rental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2985F-9CBD-4C6C-820E-D61739AF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242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7D876-E046-42B6-A780-23F2775E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E351E-D809-4843-B8D0-A0D7E890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90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BE5FB-4468-4593-82A5-9771EF6E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575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72BC1-28CC-48AD-AE50-0C19714F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outbox_events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71346-B006-4002-AF4C-31F0E4B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814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event rental.created jako pending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344E7-BF6E-4ED3-82EC-FA166FBB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301319-BA85-4B68-9026-D0506B9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1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02F6EA-F896-4048-B000-F6165206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8332E-FD89-4C02-84C7-C477937D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575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15E413-2C90-4C2C-B076-0E0B5038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Outbox worker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2BA530-B5A9-4A88-B017-B894F49A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814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publikacja do RabbitMQ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24A8CB-CA7D-45EA-B35F-FEC72CE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BC1E97-72B5-4073-9F3F-5DEAED8B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194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54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E64B6A-3106-4EA2-9F1C-DDD1E10C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90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766706-71D6-40F9-9E28-81BA814C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575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C78737-31E2-4599-BFFE-E37126A8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E142C4-7BA9-4BA7-950B-DCB8A572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topic exchange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B488A5-5A64-425E-8673-B0ABF950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242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D0812A-3D2C-44BF-A6BD-FB844175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194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A7B428-9079-4B4C-B52D-E9F7E436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90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2F0CF9-1C99-4718-9055-DAC3E937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E6489F-4EE9-4A60-86D0-21E7FF1A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861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Consumers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97FC36-60EA-47E7-805A-DBB89164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814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notification + audit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09FA82-FF69-477B-A921-0BB2AEAA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6554C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77AAA0-0EBC-4ED7-BEC2-FB408589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3752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54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54C0"/>
                </a:solidFill>
                <a:latin typeface="Aptos"/>
                <a:ea typeface="Aptos"/>
                <a:cs typeface="Aptos"/>
              </a:rPr>
              <a:t>Routing kluczy zdarzeń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7B0B5D-843F-4D21-AE3F-6F16AE66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3752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auth.registered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auth.logged_in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rental.created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rental.returned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414709-76B7-4CC0-BAA8-822F7A15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BF30E4-005C-49CC-BBE3-CAE972CA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3752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Consumers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08409B-0344-4D89-8498-E6EE99E1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05400"/>
            <a:ext cx="3752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notification-service: rental.*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audit-service: #</a:t>
            </a:r>
          </a:p>
        </p:txBody>
      </p:sp>
    </p:spTree>
    <p:extLst>
      <p:ext uri="{BB962C8B-B14F-4D97-AF65-F5344CB8AC3E}">
        <p14:creationId xmlns:p14="http://schemas.microsoft.com/office/powerpoint/2010/main" val="14615215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1D5D43-AAC3-4B7B-B3F5-F34A11F2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B8B4F-40AF-44A3-9F9E-DC340E16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NIEZAWODNOŚĆ PUBLIKACJI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0C877-983C-44CC-B31C-F69DF292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Outbox pattern chroni zdarzenia przed zgubieniem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59806-98D3-4762-93DF-9028EB28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Zdarzenie jest najpierw transakcyjnie odkładane w PostgreSQL, a dopiero potem publikowane przez worker.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C8C46-54B5-4396-A9A9-F3C8DD99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4EACD-BEAF-4E1B-A32E-B826FF44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CineRent | architektura mikroserwisowa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BC1CC-7CCD-4511-A04F-0BAB18AB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B089B-BBD6-4F59-8BA7-90A02A5A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4000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33521-7244-49AD-BE82-634C864A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88F51-BA58-4EC3-A991-1B969A84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52725"/>
            <a:ext cx="3676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Tabela outbox_events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8A46D-926C-4155-BCED-3D78344A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3676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event_id, event_type, payload JSONB,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source, status, attempts,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last_error, created_at, published_at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8D7B6-7A1D-493E-B99A-9706B263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266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1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6F305-4B39-4030-A113-D0AD8A97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C00E3-F0FF-43D0-9EA5-5674ACC2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2343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29274-D24F-41F6-9D26-1A019EE6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81350"/>
            <a:ext cx="2343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pobiera pending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FOR UPDATE SKIP LOCKED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publikuje i oznacza published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AE2F2-CDDD-4442-AA02-3EAE8B94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81300"/>
            <a:ext cx="1809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54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E6CAA-0759-450A-8EE7-CB1BD194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813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D3490-C05E-4A8A-A8A6-08F95966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14650"/>
            <a:ext cx="1485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8A2A9-0E58-48CE-9C9D-324257EB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81350"/>
            <a:ext cx="1485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durable topic exchange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routing key = event_type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D5933-4472-4E69-B779-01ADE62B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19475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CFA1D-6C46-4D16-9D47-9A466952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1947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4A6F9-7679-4DEB-8D73-5051723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3943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EB3D0-AADE-428D-A462-1DF2EDEB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62500"/>
            <a:ext cx="3600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Wynik sprawdzenia w bazie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5BC16-5C61-4374-90D8-56113299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0150"/>
            <a:ext cx="3600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event_type      status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rental.created  published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auth.logged_in  published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6C76C-F688-4BA8-9732-6D29E83A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3943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EFA8E-9903-41EA-B100-3C53AE37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62500"/>
            <a:ext cx="3600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Co to daje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ACFA4C-9461-4E85-8530-49769CBE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10150"/>
            <a:ext cx="3600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backend nie musi znać konsumentów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retry jest możliwy przez attempts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PostgreSQL zostaje źródłem prawdy</a:t>
            </a:r>
          </a:p>
        </p:txBody>
      </p:sp>
    </p:spTree>
    <p:extLst>
      <p:ext uri="{BB962C8B-B14F-4D97-AF65-F5344CB8AC3E}">
        <p14:creationId xmlns:p14="http://schemas.microsoft.com/office/powerpoint/2010/main" val="7959685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13F9E-4ADF-4034-A0A6-A130D4D8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E2AF3-FFBC-43D8-8015-D8DB990F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NOTIFICATION-SERVICE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E62B4-88E2-40AF-AC1E-FF612916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Pierwszy dopięty mikroserwis reaguje na wypożyczenia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74E18-E412-4926-9E10-84501FD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Usługa słucha RabbitMQ i obsługuje zdarzenia rental.* bez wołania backendu synchronicznie.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EB6AF-B45A-4BC1-ABE6-A2AB5057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E9B13-0BA5-4AAA-AF0A-5A3E66DE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CineRent | architektura mikroserwisowa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1D8BE-5808-4DCC-BDCF-D5B1401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014e04ec842b7">
            <a:extLst>
              <a:ext uri="{96DAC541-7B7A-43D3-8B79-37D633B846F1}">
                <asvg:svgBlip xmlns:asvg="http://schemas.microsoft.com/office/drawing/2016/SVG/main" r:embed="R450c86b1790d4e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6860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93E81-F0D3-4A3F-9EC3-F9447B62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146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E1141-6BEB-4498-A62D-EA3314B4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146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197DA-9A75-418E-A508-F9E062F4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2819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Kolejka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96CFA-8119-443D-8D1E-DCE779E7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2819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queue: notification-service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routing_key: rental.*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DF885-FAEF-4B21-BA04-D465791C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283C1-C0A1-4C49-A17D-79DC865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65B11-0749-4B8E-A890-53518AD2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2819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Logika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D5BF0-A66E-4CC8-81CC-2F84BFAA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2819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odczyt typu zdarzenia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wyciągnięcie user_id, tytułu i terminu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A7F6D-B0EE-4B67-AE81-8667149A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AA956-A8B4-4250-BF5C-B7F71731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6C73D-9876-4005-BB37-DDF73A53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962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Efekt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BF64C-D6C0-414E-8FB0-77D71F1B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komunikat powiadomienia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widoczny w logach kontenera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75169-AD2B-4901-AF78-FF72CB92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765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5C296-9AAA-4CA2-8148-59ACF6AE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765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CFCA9-4D2D-4688-AEE1-5F1F81DD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243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E6614-6490-42CA-A78A-9197BF59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775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Potwierdzenie z logów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7783D-8B94-457C-A194-551E6365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05350"/>
            <a:ext cx="775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rental.created -&gt; 127 Godzin | termin: 2026-06-05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rental.created -&gt; 2012 | termin: 2026-06-05</a:t>
            </a:r>
          </a:p>
        </p:txBody>
      </p:sp>
    </p:spTree>
    <p:extLst>
      <p:ext uri="{BB962C8B-B14F-4D97-AF65-F5344CB8AC3E}">
        <p14:creationId xmlns:p14="http://schemas.microsoft.com/office/powerpoint/2010/main" val="10955390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7B5FD-EB17-4171-BA2D-F758DDF9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AA108-036C-4E1B-9473-7457C46C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AUDIT-SERVICE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9573F-E1C1-4E9B-86E7-BA7496BB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Każde ważne zdarzenie może trafić do śladu audytowego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ACA8E-4AF7-41FB-8BCA-E3F6317E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Audit-service subskrybuje wszystkie zdarzenia z exchange i zapisuje je w PostgreSQL.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FA9E5-6BD8-4588-8B2C-E99AB8B8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D05F0-1A69-420B-B0DF-71282272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CineRent | architektura mikroserwisowa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52917-766D-40DD-AEAF-57F55BD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2D953-DFB0-428F-A3F4-26DE4F83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54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9DEEB-E88B-42F5-8D1C-4DCDB1C8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297AE-3285-4A9E-944A-635F9522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CF7DB-C35C-4D52-ACE0-E06FEA0C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215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exchange: cinerent.events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routing_key: #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EEF36-4264-4570-97DC-5716B084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66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4DC24-1554-4857-B912-A5AB7787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77B5B-45BF-40E2-88F2-40F79BC6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2343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audit-service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5EE94-39CE-46B3-A034-7A6837D1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2343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konsument zdarzeń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normalizacja payloadu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951BE-D0F2-4FD7-A895-B4B35954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CB846-0C77-4A00-A607-E7F5F15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C7AC3-70F4-45BA-B699-0DE5707D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E50B6-54BE-4EC9-AA98-D694CD1E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24200"/>
            <a:ext cx="2152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audit_events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received_at + event_type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8E931-CC64-451F-BE9C-0DDEF731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670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8D881-EF97-4E3B-BC45-A5015D04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670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5445E-533D-44CE-AB91-C004AC22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6554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D0649-D358-49BC-BF08-F6A9AA0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413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54C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54C0"/>
                </a:solidFill>
                <a:latin typeface="Aptos"/>
                <a:ea typeface="Aptos"/>
                <a:cs typeface="Aptos"/>
              </a:rPr>
              <a:t>Zapytanie kontrolne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D25AE-1D8F-4167-A48E-2BC03CB0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4133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select event_type, received_at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from audit_events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order by received_at desc limit 10;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5CC76-8F92-4CE5-B293-5C3399DC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7D898B-34F5-4C51-97C7-48999644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413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Wynik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4B201-2B84-40FE-9D31-C6EA2B70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14900"/>
            <a:ext cx="4133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rental.created | 2026-05-22 11:47:26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auth.logged_in | 2026-05-22 11:47:20</a:t>
            </a:r>
          </a:p>
        </p:txBody>
      </p:sp>
    </p:spTree>
    <p:extLst>
      <p:ext uri="{BB962C8B-B14F-4D97-AF65-F5344CB8AC3E}">
        <p14:creationId xmlns:p14="http://schemas.microsoft.com/office/powerpoint/2010/main" val="9845789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4C584E-B9A9-4FE2-88F5-1448E358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E2681-1F42-4254-B93A-99C9C0D9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OPERACYJNOŚĆ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719AB-6136-4CD8-9888-318E2143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Do projektu dołożono podstawę pod obserwowalność i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911CC-6757-475F-8576-D90E090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To nie zmienia domeny aplikacji, ale daje narzędzia do diagnozy środowiska kontenerowego.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0FB30-D9C9-4472-89F8-04B1F548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FD2D1-DDDE-4565-A714-BC7ADBBA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CineRent | architektura mikroserwisowa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10ECB-810B-4BBF-ADE4-BB41253C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0D5E1-60BA-4186-83D1-7735944C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752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b1359021d4915">
            <a:extLst>
              <a:ext uri="{96DAC541-7B7A-43D3-8B79-37D633B846F1}">
                <asvg:svgBlip xmlns:asvg="http://schemas.microsoft.com/office/drawing/2016/SVG/main" r:embed="Rf34db532c8f944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914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3FB4B-AE57-4E42-A2BA-961F3AF8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Grafana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EAED7-55D0-49B3-934D-071AB447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dashboard UI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port 3000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5B131-D3EE-473A-96F3-16483117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1752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2dfc91d15428a">
            <a:extLst>
              <a:ext uri="{96DAC541-7B7A-43D3-8B79-37D633B846F1}">
                <asvg:svgBlip xmlns:asvg="http://schemas.microsoft.com/office/drawing/2016/SVG/main" r:embed="Rcbe66f99f39c46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48000" y="2914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A4BD5-D8F9-4871-A01B-BFF1D6F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528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Loki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2BE19-178A-46A8-BBC4-0079D408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centralizacja logów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port 3100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40711-31C0-4535-A561-761E4FF7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150"/>
            <a:ext cx="1752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13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2699037034f71">
            <a:extLst>
              <a:ext uri="{96DAC541-7B7A-43D3-8B79-37D633B846F1}">
                <asvg:svgBlip xmlns:asvg="http://schemas.microsoft.com/office/drawing/2016/SVG/main" r:embed="R2d280f7ca3294d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00650" y="2914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E3F74-C4BA-46A8-AC01-2C627146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528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Promtail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066A8-0061-4E98-86B4-25FBE8E1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zbiera logi Dockera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wysyła do Loki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6DEF8-5A4A-4944-A939-E7ED6198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1752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54C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4efdb8bcd4133">
            <a:extLst>
              <a:ext uri="{96DAC541-7B7A-43D3-8B79-37D633B846F1}">
                <asvg:svgBlip xmlns:asvg="http://schemas.microsoft.com/office/drawing/2016/SVG/main" r:embed="Rbbbd934114eb4f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53300" y="2914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919E0-7ADF-4DBB-8595-A1B05ACE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528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Jaeger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F80851-0CEC-4135-9850-03C58AD7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147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tracing UI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port 16686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3E90F-5138-4099-A3F4-42E0D10D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1752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D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e5c30eeca4ef2">
            <a:extLst>
              <a:ext uri="{96DAC541-7B7A-43D3-8B79-37D633B846F1}">
                <asvg:svgBlip xmlns:asvg="http://schemas.microsoft.com/office/drawing/2016/SVG/main" r:embed="R49a014d2b7ef45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05950" y="2914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6A988-C6C6-4EB9-B72A-AFEEB689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528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Consul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41507-8F79-4259-990A-2B3AD5B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147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service discovery UI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port 8500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C5F4F-F573-40C6-BE33-B46D2C5D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0"/>
            <a:ext cx="3905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6EA0B-271F-4516-B01F-992A5A38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95850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Zakres wdrożony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F46407-4F4D-43C3-8F9B-B3AEC6BC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43500"/>
            <a:ext cx="3562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kontenery + provisioning Grafany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konfiguracje Loki/Promtail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FA6C03-AA9A-453A-B7C3-743F356F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62500"/>
            <a:ext cx="3905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2B1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E25E85-E507-4F76-94D0-4213948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95850"/>
            <a:ext cx="3562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Zakres do domknięcia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6A563C-74B3-47CB-A59F-466B7C14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43500"/>
            <a:ext cx="3562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metryki, alerty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instrumentacja trace w kodzie aplikacji</a:t>
            </a:r>
          </a:p>
        </p:txBody>
      </p:sp>
    </p:spTree>
    <p:extLst>
      <p:ext uri="{BB962C8B-B14F-4D97-AF65-F5344CB8AC3E}">
        <p14:creationId xmlns:p14="http://schemas.microsoft.com/office/powerpoint/2010/main" val="5476694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E4773A-1D44-40BA-AC24-3E3FA766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A0CF4-5C01-4637-B42B-16AAE1ED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WERYFIKACJA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505B6-9276-4B59-B92D-C12F42C5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Ścieżka użytkownika i platforma zostały sprawdzone end-to-end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281F9-9C5E-440B-AA5B-A74BC8EA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Najważniejsze testy przechodzą przez publiczny port frontendu, a backend pozostaje wewnątrz sieci Compose.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D40CF-D042-4201-AD50-ACF9475C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78717-651A-431B-9590-5ADC1DB6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CineRent | architektura mikroserwisowa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86AEA-3BA1-473E-AE68-4C8A436F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05257-40CA-4225-A76C-D0637E46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3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175AF-A322-4AE4-8DED-539F4BA0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574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06336-FD7F-462C-AB55-F8F8A403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527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056B2-3682-40FE-92BD-F831EB73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003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GET /api/genres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BD8C1-1428-44C8-8260-B37E4B7D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86075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200 + application/json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E32AE-AF51-458E-8A19-11A1A63D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45D43-57FD-4F82-B222-F6FBA9D5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574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739A6-1635-407E-BA6E-5AE4395B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527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D2C1A-1280-46B7-A5BB-D4CEBCCD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03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/api/auth/register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A0021-9C0A-4919-88C5-C740D93B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86075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konto utworzone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115DF-7FA0-4F4B-9CF2-39CE7174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767F-DC31-4BC5-AA26-3389C289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480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25920-E338-4919-82E7-13203824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433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ED047-CCC5-4210-9F9B-32331AC7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909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/api/auth/login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2E7A0-7F08-46A8-B8E4-231635AA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76675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access_token JWT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7E97C-7F97-4229-976A-55FC97DB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3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80E63-567F-4F65-AF84-F939D750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480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0E3A2-0C36-44BC-A107-248CE54A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433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071E2B-C0C4-4A49-9573-C3A7024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909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GET /health w gatewayu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7CCD79-E8EA-4758-8770-352D9195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76675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api-gateway 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E5786-E903-4545-AD94-1622BD2C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3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A2904-ECF8-4F34-8BD6-EA26591E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386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AECFD-6D12-4A96-9A19-081842A0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339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FF70EE-DE1A-402D-94BA-DD02B65C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815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 /api/rentals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F7DCE7-C658-448F-A10D-CD2FA782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67275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201 + event rental.created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372531-E70B-461B-AA11-0743D961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3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18560C-14D3-4D68-918A-980E1889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386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39EDA5-4683-4226-939B-B6F1B38B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339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91C099-49D7-4E3A-BF21-AD327FC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815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RabbitMQ consumers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47152B-D79C-47F1-B402-B1CB9FB5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67275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notification + audit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A2EA73-70B9-488F-A742-E92FE195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43550"/>
            <a:ext cx="800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1AC1B9-E1C3-4501-BF4A-5B7E5CEA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76900"/>
            <a:ext cx="765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Wniosek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6988AC-9F22-4DFD-988D-9E606E95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924550"/>
            <a:ext cx="765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Frontend -&gt; Gateway -&gt; Backend -&gt; PostgreSQL działa; eventy docierają do usług.</a:t>
            </a:r>
          </a:p>
        </p:txBody>
      </p:sp>
    </p:spTree>
    <p:extLst>
      <p:ext uri="{BB962C8B-B14F-4D97-AF65-F5344CB8AC3E}">
        <p14:creationId xmlns:p14="http://schemas.microsoft.com/office/powerpoint/2010/main" val="15713002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4772D-7AC4-4E62-B8E3-AF962472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F8F7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6C4AF-459D-4539-8718-0A0197E0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BILANS ARCHITEKTURY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2301E-F9EA-4254-BB39-466F74CF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Nowe usługi dają modularność, ale wymagają dyscypliny operacyjnej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6F14F-96D5-4A41-82F4-1C228E45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To dobry kierunek dla projektu, o ile kolejne elementy będą dodawane wokół realnych przepływów.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221D1-B249-445B-B24D-C61DB867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BCAA5-8F0D-47F9-A2B4-A402C55A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CineRent | architektura mikroserwisowa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9E563-E5B9-4085-B7AB-5A314A28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865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0AD33-7359-4415-B916-555DC10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01222-2A5C-4C4F-A305-071E5FEB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831FB-7EAC-4256-85B4-545E497C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819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Zyski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14338-BFAD-4AF8-80F8-F250DD77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819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skalowanie elementów niezależnie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brak bezpośredniego coupling do notyfikacji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audyt zdarzeń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jeden kontrakt wejściowy przez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D592C-0739-4CD4-8E04-1A5B228F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1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C7922-0B34-496B-A045-10EDF6ED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AE853-33D0-404B-98F9-C9C63272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2819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Koszt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6953D-65C4-42BF-8625-F4958C97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48000"/>
            <a:ext cx="2819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więcej kontenerów i konfiguracji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kolejki wymagają monitoringu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trzeba pilnować schematów eventów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więcej miejsc do logowania błędów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B15E0-9F48-4A20-B0D2-61EA055B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39265-D3E7-47A4-8252-DEE45E9B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809D2-A604-46EA-AC00-1C918247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2819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Ryzyka do kontroli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48700-2048-4CC1-8C06-616D4ECB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2819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sekrety i .env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rate limit w środowisku prod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migracje tabel outbox/audit</a:t>
            </a:r>
          </a:p>
          <a:p xmlns:a="http://schemas.openxmlformats.org/drawingml/2006/main">
            <a:pPr algn="l">
              <a:defRPr sz="1050" b="0">
                <a:solidFill>
                  <a:srgbClr val="5E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470"/>
                </a:solidFill>
                <a:latin typeface="Aptos"/>
                <a:ea typeface="Aptos"/>
                <a:cs typeface="Aptos"/>
              </a:rPr>
              <a:t>brak dashboardów SLO/alertów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1BCEE-9BE8-406B-96A3-3F31098E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101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D3A69-50EA-4872-A8C5-D1F547F6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43500"/>
            <a:ext cx="775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Najważniejsza decyzja projektowa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C09C5-CA88-4BD3-B2DF-0EFD51EA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91150"/>
            <a:ext cx="775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Nie zmieniamy PostgreSQL na MongoDB.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Relacyjna baza zostaje systemem prawdy; RabbitMQ przenosi zdarzenia.</a:t>
            </a:r>
          </a:p>
        </p:txBody>
      </p:sp>
    </p:spTree>
    <p:extLst>
      <p:ext uri="{BB962C8B-B14F-4D97-AF65-F5344CB8AC3E}">
        <p14:creationId xmlns:p14="http://schemas.microsoft.com/office/powerpoint/2010/main" val="2631835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3FAF0-5BCA-451D-ADE2-45548AB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E218C-85A2-4778-8F26-FB132EEE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 dalej?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874C2-A12F-4925-A487-DD096110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Najlepsze kolejne kroki to nie dokładanie usług dla samej listy, tylko domknięcie bezpieczeństwa, widoczności i automatyzacji.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83C18-18C7-49A1-BF2F-B20F9A4B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B3E3B-239F-4886-9C89-D7F7C5AA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91A22-FD71-4BA0-B5F5-F0CC15F7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Identity 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E9418-6EE7-45B4-930E-D7999819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np. Keycloak/OAuth2, tokeny i role poza backendem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FD493-0CB7-445B-9094-6A67A5BB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0">
            <a:solidFill>
              <a:srgbClr val="6554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D2107-9E74-4748-B199-7479DDD1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50701-9F25-491A-92B7-E107E71A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04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Tracing w kodzie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CE486-D0B0-4A8C-998C-CFC17ADB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OpenTelemetry -&gt; Jaeger/Tempo, ślad requestu przez gateway i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5D140-DB16-4C59-80C7-01378A3F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F"/>
          </a:solidFill>
          <a:ln xmlns:a="http://schemas.openxmlformats.org/drawingml/2006/main" w="0">
            <a:solidFill>
              <a:srgbClr val="2E9D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CC20C-9ECF-4EF1-84E6-EA4B8C7E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63F87-3B36-42B9-A63B-66679E60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290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Dashboardy i alerty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0E240-9AED-49A8-9C0F-DA1D4351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Grafana: błędy 5xx, kolejka RabbitMQ, outbox pending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AAF3B-AEF6-424E-AAB8-4CA8B9FD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B92D5-79D3-479F-8D24-1639A610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52049-0F48-4D33-BD02-3E184EF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Kontrakty eventów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87E77-D54C-4CC9-A592-36EDF552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67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wersjonowanie payloadów i testy konsumentów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990A8-D962-468B-A343-68BC3E2E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84663-20FF-4F19-9218-DC5CE590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FDAE8-AA69-407D-9DE7-B6104CE0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59BE3-1505-46A1-8977-F65F27DB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build, test, lint, compose smoke test na każdym pushu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72AE9-C64E-44DB-A3EF-37D6604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3880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E9D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8BE10-61DC-4722-9D7F-AE371854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72150"/>
            <a:ext cx="851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9D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9D6F"/>
                </a:solidFill>
                <a:latin typeface="Aptos"/>
                <a:ea typeface="Aptos"/>
                <a:cs typeface="Aptos"/>
              </a:rPr>
              <a:t>Stan na teraz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C34D8-4152-45E5-990B-665EFC0F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19800"/>
            <a:ext cx="851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docker compose + PostgreSQL + gateway + RabbitMQ + outbox + notification + audit + observability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F2726-2E9A-4716-AA5E-43A8EC40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137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2026-05-22T11:57:41.4490000Z</dcterms:created>
  <dcterms:modified xsi:type="dcterms:W3CDTF">2026-05-22T11:57:41.4490000Z</dcterms:modified>
</coreProperties>
</file>